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1"/>
  </p:normalViewPr>
  <p:slideViewPr>
    <p:cSldViewPr snapToGrid="0" snapToObjects="1" showGuides="1">
      <p:cViewPr varScale="1">
        <p:scale>
          <a:sx n="115" d="100"/>
          <a:sy n="115" d="100"/>
        </p:scale>
        <p:origin x="496" y="368"/>
      </p:cViewPr>
      <p:guideLst>
        <p:guide orient="horz" pos="217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wordwall.net/ru/resource/67137044?wwmethod=link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554480" y="-182880"/>
            <a:ext cx="7680960" cy="7680960"/>
          </a:xfrm>
          <a:prstGeom prst="ellipse">
            <a:avLst/>
          </a:prstGeom>
          <a:solidFill>
            <a:srgbClr val="025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3291840"/>
            <a:ext cx="4754880" cy="4754880"/>
          </a:xfrm>
          <a:prstGeom prst="ellipse">
            <a:avLst/>
          </a:prstGeom>
          <a:solidFill>
            <a:srgbClr val="013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108960" y="-731520"/>
            <a:ext cx="2926080" cy="2926080"/>
          </a:xfrm>
          <a:prstGeom prst="ellipse">
            <a:avLst/>
          </a:prstGeom>
          <a:solidFill>
            <a:srgbClr val="078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274320"/>
            <a:ext cx="2194560" cy="384048"/>
          </a:xfrm>
          <a:prstGeom prst="rect">
            <a:avLst/>
          </a:prstGeom>
          <a:solidFill>
            <a:srgbClr val="013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31089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 panose="020F0502020204030204"/>
              </a:rPr>
              <a:t>10-СЫНЫП · АЛГЕБРА</a:t>
            </a:r>
            <a:endParaRPr sz="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" y="822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7DD3FC"/>
                </a:solidFill>
                <a:latin typeface="Calibri" panose="020F0502020204030204"/>
              </a:rPr>
              <a:t>sin y = x  ⟹  y = arcsin x</a:t>
            </a:r>
            <a:endParaRPr sz="1600" b="0" i="1">
              <a:solidFill>
                <a:srgbClr val="7DD3FC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4320" y="141732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 panose="020F0502020204030204"/>
              </a:rPr>
              <a:t>Кері</a:t>
            </a:r>
            <a:endParaRPr sz="5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4320" y="217627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7DD3FC"/>
                </a:solidFill>
                <a:latin typeface="Calibri" panose="020F0502020204030204"/>
              </a:rPr>
              <a:t>Тригонометриялық</a:t>
            </a:r>
            <a:endParaRPr sz="3600" b="1" i="0">
              <a:solidFill>
                <a:srgbClr val="7DD3FC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4320" y="28803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 panose="020F0502020204030204"/>
              </a:rPr>
              <a:t>Функциялар</a:t>
            </a:r>
            <a:endParaRPr sz="4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4320" y="374903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DD3FC"/>
                </a:solidFill>
                <a:latin typeface="Calibri" panose="020F0502020204030204"/>
              </a:rPr>
              <a:t>Арксинус · Арккосинус · Арктангенс · Арккотангенс</a:t>
            </a:r>
            <a:endParaRPr sz="1300" b="0" i="0">
              <a:solidFill>
                <a:srgbClr val="7DD3FC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120640" y="0"/>
            <a:ext cx="706831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4572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C1A2E"/>
                </a:solidFill>
                <a:latin typeface="Calibri" panose="020F0502020204030204"/>
              </a:rPr>
              <a:t>Негізгі формулалар</a:t>
            </a:r>
            <a:endParaRPr sz="1800" b="1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394960" y="960120"/>
            <a:ext cx="2560320" cy="254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94960" y="1188720"/>
            <a:ext cx="6492240" cy="1207008"/>
          </a:xfrm>
          <a:prstGeom prst="rect">
            <a:avLst/>
          </a:prstGeom>
          <a:solidFill>
            <a:srgbClr val="EFF6FF"/>
          </a:solidFill>
          <a:ln w="190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94960" y="1188720"/>
            <a:ext cx="1371600" cy="1207008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15544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 panose="020F0502020204030204"/>
              </a:rPr>
              <a:t>arcsin</a:t>
            </a:r>
            <a:endParaRPr sz="1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03720" y="157276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C1A2E"/>
                </a:solidFill>
                <a:latin typeface="Calibri" panose="020F0502020204030204"/>
              </a:rPr>
              <a:t>sin y = x,  y ∈ [−π/2; π/2]</a:t>
            </a:r>
            <a:endParaRPr sz="1500" b="0" i="1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394960" y="2523744"/>
            <a:ext cx="6492240" cy="1207008"/>
          </a:xfrm>
          <a:prstGeom prst="rect">
            <a:avLst/>
          </a:prstGeom>
          <a:solidFill>
            <a:srgbClr val="ECFE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94960" y="2523744"/>
            <a:ext cx="1371600" cy="1207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0" y="2889504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 panose="020F0502020204030204"/>
              </a:rPr>
              <a:t>arccos</a:t>
            </a:r>
            <a:endParaRPr sz="1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903720" y="290779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C1A2E"/>
                </a:solidFill>
                <a:latin typeface="Calibri" panose="020F0502020204030204"/>
              </a:rPr>
              <a:t>cos y = x,  y ∈ [0; π]</a:t>
            </a:r>
            <a:endParaRPr sz="1500" b="0" i="1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394960" y="3858768"/>
            <a:ext cx="6492240" cy="1207008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94960" y="3858768"/>
            <a:ext cx="1371600" cy="1207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422452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 panose="020F0502020204030204"/>
              </a:rPr>
              <a:t>arctan</a:t>
            </a:r>
            <a:endParaRPr sz="1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903720" y="424281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C1A2E"/>
                </a:solidFill>
                <a:latin typeface="Calibri" panose="020F0502020204030204"/>
              </a:rPr>
              <a:t>tan y = x,  y ∈ (−π/2; π/2)</a:t>
            </a:r>
            <a:endParaRPr sz="1500" b="0" i="1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394960" y="5193792"/>
            <a:ext cx="6492240" cy="1207008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94960" y="5193792"/>
            <a:ext cx="1371600" cy="1207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94960" y="555955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 panose="020F0502020204030204"/>
              </a:rPr>
              <a:t>arccot</a:t>
            </a:r>
            <a:endParaRPr sz="1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903720" y="5577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C1A2E"/>
                </a:solidFill>
                <a:latin typeface="Calibri" panose="020F0502020204030204"/>
              </a:rPr>
              <a:t>cot y = x,  y ∈ (0; π)</a:t>
            </a:r>
            <a:endParaRPr sz="1500" b="0" i="1">
              <a:solidFill>
                <a:srgbClr val="0C1A2E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3258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C1A2E"/>
                </a:solidFill>
                <a:latin typeface="Calibri" panose="020F0502020204030204"/>
              </a:rPr>
              <a:t>Сабақтың мақсаттары</a:t>
            </a:r>
            <a:endParaRPr sz="3000" b="1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608" y="804672"/>
            <a:ext cx="114300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6A8A"/>
                </a:solidFill>
                <a:latin typeface="Calibri" panose="020F0502020204030204"/>
              </a:rPr>
              <a:t>10.1.3.3 · Арксинус, арккосинус, арктангенс, арккотангенс анықтамалары</a:t>
            </a:r>
            <a:r>
              <a:rPr lang="en-US" altLang="en-US" sz="1300" b="0" i="0">
                <a:solidFill>
                  <a:srgbClr val="476A8A"/>
                </a:solidFill>
                <a:latin typeface="Calibri" panose="020F0502020204030204"/>
              </a:rPr>
              <a:t>н білу және олардың мәндерін таба білу.</a:t>
            </a:r>
            <a:endParaRPr lang="en-US" altLang="en-US" sz="1300" b="0" i="0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325880"/>
            <a:ext cx="12188952" cy="254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11640312" cy="896112"/>
          </a:xfrm>
          <a:prstGeom prst="rect">
            <a:avLst/>
          </a:prstGeom>
          <a:solidFill>
            <a:srgbClr val="FFFFFF"/>
          </a:solidFill>
          <a:ln w="1524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548640" cy="89611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72821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 panose="020F0502020204030204"/>
              </a:rPr>
              <a:t>1</a:t>
            </a:r>
            <a:endParaRPr sz="18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0120" y="156362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369A1"/>
                </a:solidFill>
                <a:latin typeface="Calibri" panose="020F0502020204030204"/>
              </a:rPr>
              <a:t>Анықтамалар</a:t>
            </a:r>
            <a:endParaRPr sz="1400" b="1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0120" y="194767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6A8A"/>
                </a:solidFill>
                <a:latin typeface="Calibri" panose="020F0502020204030204"/>
              </a:rPr>
              <a:t>Арксинус, арккосинус, арктангенс және арккотангенс анықтамаларын біледі</a:t>
            </a:r>
            <a:endParaRPr sz="1300" b="0" i="0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11640312" cy="896112"/>
          </a:xfrm>
          <a:prstGeom prst="rect">
            <a:avLst/>
          </a:prstGeom>
          <a:solidFill>
            <a:srgbClr val="FFFFFF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514600"/>
            <a:ext cx="548640" cy="8961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73405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 panose="020F0502020204030204"/>
              </a:rPr>
              <a:t>2</a:t>
            </a:r>
            <a:endParaRPr sz="18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0120" y="256946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alibri" panose="020F0502020204030204"/>
              </a:rPr>
              <a:t>Қасиеттер</a:t>
            </a:r>
            <a:endParaRPr sz="1400" b="1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0120" y="295351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6A8A"/>
                </a:solidFill>
                <a:latin typeface="Calibri" panose="020F0502020204030204"/>
              </a:rPr>
              <a:t>Кері тригонометриялық функциялардың негізгі қасиеттерін түсінеді</a:t>
            </a:r>
            <a:endParaRPr sz="1300" b="0" i="0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74320" y="3520440"/>
            <a:ext cx="11640312" cy="896112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520440"/>
            <a:ext cx="548640" cy="8961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73989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 panose="020F0502020204030204"/>
              </a:rPr>
              <a:t>3</a:t>
            </a:r>
            <a:endParaRPr sz="18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0120" y="357530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 panose="020F0502020204030204"/>
              </a:rPr>
              <a:t>Мәндер</a:t>
            </a:r>
            <a:endParaRPr sz="1400" b="1" i="0">
              <a:solidFill>
                <a:srgbClr val="059669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0120" y="395935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6A8A"/>
                </a:solidFill>
                <a:latin typeface="Calibri" panose="020F0502020204030204"/>
              </a:rPr>
              <a:t>arcsin, arccos, arctan, arccot функцияларының мәндерін табады</a:t>
            </a:r>
            <a:endParaRPr sz="1300" b="0" i="0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74320" y="4526280"/>
            <a:ext cx="11640312" cy="896112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526280"/>
            <a:ext cx="548640" cy="89611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474573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 panose="020F0502020204030204"/>
              </a:rPr>
              <a:t>4</a:t>
            </a:r>
            <a:endParaRPr sz="18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60120" y="458114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  <a:latin typeface="Calibri" panose="020F0502020204030204"/>
              </a:rPr>
              <a:t>Анықтау</a:t>
            </a:r>
            <a:endParaRPr sz="1400" b="1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60120" y="496519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6A8A"/>
                </a:solidFill>
                <a:latin typeface="Calibri" panose="020F0502020204030204"/>
              </a:rPr>
              <a:t>Кері тригонометриялық функциялардың мәндерін дұрыс анықтайды</a:t>
            </a:r>
            <a:endParaRPr sz="1300" b="0" i="0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74320" y="5532120"/>
            <a:ext cx="11640312" cy="896112"/>
          </a:xfrm>
          <a:prstGeom prst="rect">
            <a:avLst/>
          </a:prstGeom>
          <a:solidFill>
            <a:srgbClr val="FFFFFF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5532120"/>
            <a:ext cx="548640" cy="89611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575157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 panose="020F0502020204030204"/>
              </a:rPr>
              <a:t>5</a:t>
            </a:r>
            <a:endParaRPr sz="18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60120" y="558698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  <a:latin typeface="Calibri" panose="020F0502020204030204"/>
              </a:rPr>
              <a:t>Қолдану</a:t>
            </a:r>
            <a:endParaRPr sz="1400" b="1" i="0">
              <a:solidFill>
                <a:srgbClr val="0F766E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60120" y="597103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6A8A"/>
                </a:solidFill>
                <a:latin typeface="Calibri" panose="020F0502020204030204"/>
              </a:rPr>
              <a:t>Тригонометриялық өрнектерде кері тригонометриялық функцияларды қолданады</a:t>
            </a:r>
            <a:endParaRPr sz="1300" b="0" i="0">
              <a:solidFill>
                <a:srgbClr val="476A8A"/>
              </a:solidFill>
              <a:latin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7" grpId="0"/>
      <p:bldP spid="17" grpId="1"/>
      <p:bldP spid="22" grpId="0"/>
      <p:bldP spid="22" grpId="1"/>
      <p:bldP spid="27" grpId="0"/>
      <p:bldP spid="27" grpId="1"/>
      <p:bldP spid="32" grpId="0"/>
      <p:bldP spid="32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3258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C1A2E"/>
                </a:solidFill>
                <a:latin typeface="Calibri" panose="020F0502020204030204"/>
              </a:rPr>
              <a:t>Кері функция дегеніміз не?</a:t>
            </a:r>
            <a:endParaRPr sz="3000" b="1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608" y="804672"/>
            <a:ext cx="1143000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6A8A"/>
                </a:solidFill>
                <a:latin typeface="Calibri" panose="020F0502020204030204"/>
              </a:rPr>
              <a:t>Жаңа тақырыпқа дайындық · Миға шабуыл</a:t>
            </a:r>
            <a:r>
              <a:rPr lang="ru-RU" sz="1300" b="0" i="0">
                <a:solidFill>
                  <a:srgbClr val="476A8A"/>
                </a:solidFill>
                <a:latin typeface="Calibri" panose="020F0502020204030204"/>
              </a:rPr>
              <a:t> </a:t>
            </a:r>
            <a:r>
              <a:rPr lang="en-US" altLang="ru-RU" sz="1300" b="0" i="0">
                <a:solidFill>
                  <a:srgbClr val="476A8A"/>
                </a:solidFill>
                <a:latin typeface="Calibri" panose="020F0502020204030204"/>
                <a:hlinkClick r:id="rId1" tooltip="" action="ppaction://hlinkfile"/>
              </a:rPr>
              <a:t>https://wordwall.net/ru/resource/67137044?wwmethod=link</a:t>
            </a:r>
            <a:endParaRPr lang="en-US" altLang="ru-RU" sz="1300" b="0" i="0">
              <a:solidFill>
                <a:srgbClr val="476A8A"/>
              </a:solidFill>
              <a:latin typeface="Calibri" panose="020F0502020204030204"/>
            </a:endParaRPr>
          </a:p>
          <a:p>
            <a:pPr algn="l"/>
            <a:endParaRPr lang="en-US" altLang="ru-RU" sz="1300" b="0" i="0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325880"/>
            <a:ext cx="12188952" cy="254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11640312" cy="1051560"/>
          </a:xfrm>
          <a:prstGeom prst="rect">
            <a:avLst/>
          </a:prstGeom>
          <a:solidFill>
            <a:srgbClr val="EFF6FF"/>
          </a:solidFill>
          <a:ln w="190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369A1"/>
                </a:solidFill>
                <a:latin typeface="Calibri" panose="020F0502020204030204"/>
              </a:rPr>
              <a:t>Негізгі идея:</a:t>
            </a:r>
            <a:endParaRPr sz="1400" b="1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1901952"/>
            <a:ext cx="1124712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C1A2E"/>
                </a:solidFill>
                <a:latin typeface="Calibri" panose="020F0502020204030204"/>
              </a:rPr>
              <a:t>Егер  y = f(x)  бірсарынды функция болса, онда  </a:t>
            </a:r>
            <a:r>
              <a:rPr lang="en-US" sz="1500" b="0" i="0">
                <a:solidFill>
                  <a:srgbClr val="0C1A2E"/>
                </a:solidFill>
                <a:latin typeface="Calibri" panose="020F0502020204030204"/>
              </a:rPr>
              <a:t>y</a:t>
            </a:r>
            <a:r>
              <a:rPr sz="1500" b="0" i="0">
                <a:solidFill>
                  <a:srgbClr val="0C1A2E"/>
                </a:solidFill>
                <a:latin typeface="Calibri" panose="020F0502020204030204"/>
              </a:rPr>
              <a:t> = f⁻¹(</a:t>
            </a:r>
            <a:r>
              <a:rPr sz="1500">
                <a:solidFill>
                  <a:srgbClr val="0C1A2E"/>
                </a:solidFill>
                <a:latin typeface="Calibri" panose="020F0502020204030204"/>
                <a:sym typeface="+mn-ea"/>
              </a:rPr>
              <a:t>x</a:t>
            </a:r>
            <a:r>
              <a:rPr sz="1500" b="0" i="0">
                <a:solidFill>
                  <a:srgbClr val="0C1A2E"/>
                </a:solidFill>
                <a:latin typeface="Calibri" panose="020F0502020204030204"/>
              </a:rPr>
              <a:t>)  кері функциясы бар.</a:t>
            </a:r>
            <a:endParaRPr sz="1500" b="0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651760"/>
            <a:ext cx="5669280" cy="40233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697480"/>
            <a:ext cx="54864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Тригонометриялық</a:t>
            </a:r>
            <a:r>
              <a:rPr lang="en-US" sz="1300" b="1" i="0">
                <a:solidFill>
                  <a:srgbClr val="FFFFFF"/>
                </a:solidFill>
                <a:latin typeface="Calibri" panose="020F0502020204030204"/>
              </a:rPr>
              <a:t> </a:t>
            </a:r>
            <a:r>
              <a:rPr lang="" sz="1300" b="1" i="0">
                <a:solidFill>
                  <a:srgbClr val="FFFFFF"/>
                </a:solidFill>
                <a:latin typeface="Calibri" panose="020F0502020204030204"/>
              </a:rPr>
              <a:t>функция</a:t>
            </a:r>
            <a:endParaRPr lang=""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4320" y="3054096"/>
            <a:ext cx="56692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30998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69A1"/>
                </a:solidFill>
                <a:latin typeface="Calibri" panose="020F0502020204030204"/>
              </a:rPr>
              <a:t>y = sin x</a:t>
            </a:r>
            <a:endParaRPr sz="1300" b="1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68880" y="3099816"/>
            <a:ext cx="13716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>
                <a:solidFill>
                  <a:srgbClr val="476A8A"/>
                </a:solidFill>
                <a:latin typeface="Calibri" panose="020F0502020204030204"/>
              </a:rPr>
              <a:t>D(y)</a:t>
            </a:r>
            <a:r>
              <a:rPr sz="1100" b="0" i="0">
                <a:solidFill>
                  <a:srgbClr val="476A8A"/>
                </a:solidFill>
                <a:latin typeface="Calibri" panose="020F0502020204030204"/>
              </a:rPr>
              <a:t>: [−π/2; π/2]</a:t>
            </a:r>
            <a:endParaRPr sz="1100" b="0" i="0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84048" y="343814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1548A"/>
                </a:solidFill>
                <a:latin typeface="Calibri" panose="020F0502020204030204"/>
              </a:rPr>
              <a:t>sin(π/6) = ½</a:t>
            </a:r>
            <a:endParaRPr sz="1200" b="0" i="1">
              <a:solidFill>
                <a:srgbClr val="01548A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320" y="3803904"/>
            <a:ext cx="566928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84962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69A1"/>
                </a:solidFill>
                <a:latin typeface="Calibri" panose="020F0502020204030204"/>
              </a:rPr>
              <a:t>y = cos x</a:t>
            </a:r>
            <a:endParaRPr sz="1300" b="1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68880" y="3849624"/>
            <a:ext cx="13716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>
                <a:solidFill>
                  <a:srgbClr val="476A8A"/>
                </a:solidFill>
                <a:latin typeface="Calibri" panose="020F0502020204030204"/>
              </a:rPr>
              <a:t>D(y)</a:t>
            </a:r>
            <a:r>
              <a:rPr sz="1100" b="0" i="0">
                <a:solidFill>
                  <a:srgbClr val="476A8A"/>
                </a:solidFill>
                <a:latin typeface="Calibri" panose="020F0502020204030204"/>
              </a:rPr>
              <a:t>: [0; π]</a:t>
            </a:r>
            <a:endParaRPr sz="1100" b="0" i="0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84048" y="4187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1548A"/>
                </a:solidFill>
                <a:latin typeface="Calibri" panose="020F0502020204030204"/>
              </a:rPr>
              <a:t>cos(π/3) = ½</a:t>
            </a:r>
            <a:endParaRPr sz="1200" b="0" i="1">
              <a:solidFill>
                <a:srgbClr val="01548A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74320" y="4553712"/>
            <a:ext cx="56692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45994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69A1"/>
                </a:solidFill>
                <a:latin typeface="Calibri" panose="020F0502020204030204"/>
              </a:rPr>
              <a:t>y = tan x</a:t>
            </a:r>
            <a:endParaRPr sz="1300" b="1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68880" y="4599432"/>
            <a:ext cx="13716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>
                <a:solidFill>
                  <a:srgbClr val="476A8A"/>
                </a:solidFill>
                <a:latin typeface="Calibri" panose="020F0502020204030204"/>
              </a:rPr>
              <a:t>D(y)</a:t>
            </a:r>
            <a:r>
              <a:rPr sz="1100" b="0" i="0">
                <a:solidFill>
                  <a:srgbClr val="476A8A"/>
                </a:solidFill>
                <a:latin typeface="Calibri" panose="020F0502020204030204"/>
              </a:rPr>
              <a:t>: (−π/2; π/2)</a:t>
            </a:r>
            <a:endParaRPr sz="1100" b="0" i="0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84048" y="4937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1548A"/>
                </a:solidFill>
                <a:latin typeface="Calibri" panose="020F0502020204030204"/>
              </a:rPr>
              <a:t>tan(π/4) = 1</a:t>
            </a:r>
            <a:endParaRPr sz="1200" b="0" i="1">
              <a:solidFill>
                <a:srgbClr val="01548A"/>
              </a:solidFill>
              <a:latin typeface="Calibri" panose="020F050202020403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74320" y="5303520"/>
            <a:ext cx="566928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53492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69A1"/>
                </a:solidFill>
                <a:latin typeface="Calibri" panose="020F0502020204030204"/>
              </a:rPr>
              <a:t>y = cot x</a:t>
            </a:r>
            <a:endParaRPr sz="1300" b="1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468880" y="5349240"/>
            <a:ext cx="13716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>
                <a:solidFill>
                  <a:srgbClr val="476A8A"/>
                </a:solidFill>
                <a:latin typeface="Calibri" panose="020F0502020204030204"/>
              </a:rPr>
              <a:t>D(y)</a:t>
            </a:r>
            <a:r>
              <a:rPr sz="1100" b="0" i="0">
                <a:solidFill>
                  <a:srgbClr val="476A8A"/>
                </a:solidFill>
                <a:latin typeface="Calibri" panose="020F0502020204030204"/>
              </a:rPr>
              <a:t>: (0; π)</a:t>
            </a:r>
            <a:endParaRPr sz="1100" b="0" i="0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84048" y="5687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1548A"/>
                </a:solidFill>
                <a:latin typeface="Calibri" panose="020F0502020204030204"/>
              </a:rPr>
              <a:t>cot(π/6) = √3</a:t>
            </a:r>
            <a:endParaRPr sz="1200" b="0" i="1">
              <a:solidFill>
                <a:srgbClr val="01548A"/>
              </a:solidFill>
              <a:latin typeface="Calibri" panose="020F050202020403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080760" y="2651760"/>
            <a:ext cx="5669280" cy="4023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269748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Кері функция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080760" y="3054096"/>
            <a:ext cx="56692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0488" y="30998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 panose="020F0502020204030204"/>
              </a:rPr>
              <a:t>y = arcsin x</a:t>
            </a:r>
            <a:endParaRPr sz="1300" b="1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275320" y="3099816"/>
            <a:ext cx="13716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>
                <a:solidFill>
                  <a:srgbClr val="476A8A"/>
                </a:solidFill>
                <a:latin typeface="Calibri" panose="020F0502020204030204"/>
              </a:rPr>
              <a:t>D(y)</a:t>
            </a:r>
            <a:r>
              <a:rPr sz="1100" b="0" i="0">
                <a:solidFill>
                  <a:srgbClr val="476A8A"/>
                </a:solidFill>
                <a:latin typeface="Calibri" panose="020F0502020204030204"/>
              </a:rPr>
              <a:t>: [-1; 1]</a:t>
            </a:r>
            <a:endParaRPr sz="1100" b="0" i="0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190488" y="343814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1548A"/>
                </a:solidFill>
                <a:latin typeface="Calibri" panose="020F0502020204030204"/>
              </a:rPr>
              <a:t>arcsin(½) = π/6</a:t>
            </a:r>
            <a:endParaRPr sz="1200" b="0" i="1">
              <a:solidFill>
                <a:srgbClr val="01548A"/>
              </a:solidFill>
              <a:latin typeface="Calibri" panose="020F0502020204030204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080760" y="3803904"/>
            <a:ext cx="566928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0488" y="384962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 panose="020F0502020204030204"/>
              </a:rPr>
              <a:t>y = arccos x</a:t>
            </a:r>
            <a:endParaRPr sz="1300" b="1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275320" y="3849624"/>
            <a:ext cx="13716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>
                <a:solidFill>
                  <a:srgbClr val="476A8A"/>
                </a:solidFill>
                <a:latin typeface="Calibri" panose="020F0502020204030204"/>
              </a:rPr>
              <a:t>D(y)</a:t>
            </a:r>
            <a:r>
              <a:rPr sz="1100" b="0" i="0">
                <a:solidFill>
                  <a:srgbClr val="476A8A"/>
                </a:solidFill>
                <a:latin typeface="Calibri" panose="020F0502020204030204"/>
              </a:rPr>
              <a:t>: [-1; 1]</a:t>
            </a:r>
            <a:endParaRPr sz="1100" b="0" i="0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190488" y="4187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1548A"/>
                </a:solidFill>
                <a:latin typeface="Calibri" panose="020F0502020204030204"/>
              </a:rPr>
              <a:t>arccos(½) = π/3</a:t>
            </a:r>
            <a:endParaRPr sz="1200" b="0" i="1">
              <a:solidFill>
                <a:srgbClr val="01548A"/>
              </a:solidFill>
              <a:latin typeface="Calibri" panose="020F0502020204030204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080760" y="4553712"/>
            <a:ext cx="56692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90488" y="45994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 panose="020F0502020204030204"/>
              </a:rPr>
              <a:t>y = arctan x</a:t>
            </a:r>
            <a:endParaRPr sz="1300" b="1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275320" y="4599432"/>
            <a:ext cx="13716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>
                <a:solidFill>
                  <a:srgbClr val="476A8A"/>
                </a:solidFill>
                <a:latin typeface="Calibri" panose="020F0502020204030204"/>
              </a:rPr>
              <a:t>D(y)</a:t>
            </a:r>
            <a:r>
              <a:rPr sz="1100" b="0" i="0">
                <a:solidFill>
                  <a:srgbClr val="476A8A"/>
                </a:solidFill>
                <a:latin typeface="Calibri" panose="020F0502020204030204"/>
              </a:rPr>
              <a:t>: ℝ</a:t>
            </a:r>
            <a:endParaRPr sz="1100" b="0" i="0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190488" y="4937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1548A"/>
                </a:solidFill>
                <a:latin typeface="Calibri" panose="020F0502020204030204"/>
              </a:rPr>
              <a:t>arctan(1) = π/4</a:t>
            </a:r>
            <a:endParaRPr sz="1200" b="0" i="1">
              <a:solidFill>
                <a:srgbClr val="01548A"/>
              </a:solidFill>
              <a:latin typeface="Calibri" panose="020F0502020204030204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080760" y="5303520"/>
            <a:ext cx="566928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0488" y="53492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 panose="020F0502020204030204"/>
              </a:rPr>
              <a:t>y = arccot x</a:t>
            </a:r>
            <a:endParaRPr sz="1300" b="1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275320" y="5349240"/>
            <a:ext cx="13716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>
                <a:solidFill>
                  <a:srgbClr val="476A8A"/>
                </a:solidFill>
                <a:latin typeface="Calibri" panose="020F0502020204030204"/>
              </a:rPr>
              <a:t>D(y)</a:t>
            </a:r>
            <a:r>
              <a:rPr sz="1100" b="0" i="0">
                <a:solidFill>
                  <a:srgbClr val="476A8A"/>
                </a:solidFill>
                <a:latin typeface="Calibri" panose="020F0502020204030204"/>
              </a:rPr>
              <a:t>: ℝ</a:t>
            </a:r>
            <a:endParaRPr sz="1100" b="0" i="0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190488" y="5687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1548A"/>
                </a:solidFill>
                <a:latin typeface="Calibri" panose="020F0502020204030204"/>
              </a:rPr>
              <a:t>arccot(√3) = π/6</a:t>
            </a:r>
            <a:endParaRPr sz="1200" b="0" i="1">
              <a:solidFill>
                <a:srgbClr val="01548A"/>
              </a:solidFill>
              <a:latin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5" grpId="0"/>
      <p:bldP spid="15" grpId="1"/>
      <p:bldP spid="16" grpId="0"/>
      <p:bldP spid="16" grpId="1"/>
      <p:bldP spid="18" grpId="0"/>
      <p:bldP spid="18" grpId="1"/>
      <p:bldP spid="19" grpId="0"/>
      <p:bldP spid="19" grpId="1"/>
      <p:bldP spid="20" grpId="0"/>
      <p:bldP spid="20" grpId="1"/>
      <p:bldP spid="22" grpId="0"/>
      <p:bldP spid="22" grpId="1"/>
      <p:bldP spid="23" grpId="0"/>
      <p:bldP spid="23" grpId="1"/>
      <p:bldP spid="24" grpId="0"/>
      <p:bldP spid="24" grpId="1"/>
      <p:bldP spid="26" grpId="0"/>
      <p:bldP spid="26" grpId="1"/>
      <p:bldP spid="27" grpId="0"/>
      <p:bldP spid="27" grpId="1"/>
      <p:bldP spid="28" grpId="0"/>
      <p:bldP spid="28" grpId="1"/>
      <p:bldP spid="32" grpId="0"/>
      <p:bldP spid="32" grpId="1"/>
      <p:bldP spid="33" grpId="0"/>
      <p:bldP spid="33" grpId="1"/>
      <p:bldP spid="34" grpId="0"/>
      <p:bldP spid="34" grpId="1"/>
      <p:bldP spid="36" grpId="0"/>
      <p:bldP spid="36" grpId="1"/>
      <p:bldP spid="37" grpId="0"/>
      <p:bldP spid="37" grpId="1"/>
      <p:bldP spid="38" grpId="0"/>
      <p:bldP spid="38" grpId="1"/>
      <p:bldP spid="40" grpId="0"/>
      <p:bldP spid="40" grpId="1"/>
      <p:bldP spid="41" grpId="0"/>
      <p:bldP spid="41" grpId="1"/>
      <p:bldP spid="42" grpId="0"/>
      <p:bldP spid="42" grpId="1"/>
      <p:bldP spid="44" grpId="0"/>
      <p:bldP spid="44" grpId="1"/>
      <p:bldP spid="45" grpId="0"/>
      <p:bldP spid="45" grpId="1"/>
      <p:bldP spid="46" grpId="0"/>
      <p:bldP spid="46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3258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C1A2E"/>
                </a:solidFill>
                <a:latin typeface="Calibri" panose="020F0502020204030204"/>
              </a:rPr>
              <a:t>Арксинус · arcsin</a:t>
            </a:r>
            <a:endParaRPr sz="3000" b="1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608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6A8A"/>
                </a:solidFill>
                <a:latin typeface="Calibri" panose="020F0502020204030204"/>
              </a:rPr>
              <a:t>І. sin(x) функциясына кері функция</a:t>
            </a:r>
            <a:endParaRPr sz="1300" b="0" i="0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325880"/>
            <a:ext cx="12188952" cy="254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11640312" cy="1481328"/>
          </a:xfrm>
          <a:prstGeom prst="rect">
            <a:avLst/>
          </a:prstGeom>
          <a:solidFill>
            <a:srgbClr val="EFF6FF"/>
          </a:solidFill>
          <a:ln w="254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1463040" cy="384048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499616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 panose="020F0502020204030204"/>
              </a:rPr>
              <a:t>АНЫҚТАМА</a:t>
            </a:r>
            <a:endParaRPr sz="1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C1A2E"/>
                </a:solidFill>
                <a:latin typeface="Calibri" panose="020F0502020204030204"/>
              </a:rPr>
              <a:t>y = arcsin x  деп  x-тің  [−1; 1]  аралығындағы мәні үшін</a:t>
            </a:r>
            <a:endParaRPr sz="1600" b="0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2304288"/>
            <a:ext cx="112471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369A1"/>
                </a:solidFill>
                <a:latin typeface="Calibri" panose="020F0502020204030204"/>
              </a:rPr>
              <a:t>sin </a:t>
            </a:r>
            <a:r>
              <a:rPr sz="1600" b="1">
                <a:solidFill>
                  <a:srgbClr val="0369A1"/>
                </a:solidFill>
                <a:latin typeface="Calibri" panose="020F0502020204030204"/>
                <a:sym typeface="+mn-ea"/>
              </a:rPr>
              <a:t>x</a:t>
            </a:r>
            <a:r>
              <a:rPr sz="1600" b="1" i="0">
                <a:solidFill>
                  <a:srgbClr val="0369A1"/>
                </a:solidFill>
                <a:latin typeface="Calibri" panose="020F0502020204030204"/>
              </a:rPr>
              <a:t> = </a:t>
            </a:r>
            <a:r>
              <a:rPr sz="1600" b="1">
                <a:solidFill>
                  <a:srgbClr val="0369A1"/>
                </a:solidFill>
                <a:latin typeface="Calibri" panose="020F0502020204030204"/>
                <a:sym typeface="+mn-ea"/>
              </a:rPr>
              <a:t>y</a:t>
            </a:r>
            <a:r>
              <a:rPr sz="1600" b="1" i="0">
                <a:solidFill>
                  <a:srgbClr val="0369A1"/>
                </a:solidFill>
                <a:latin typeface="Calibri" panose="020F0502020204030204"/>
              </a:rPr>
              <a:t>   және   y ∈ [−π/2;  π/2]  болатын санды айтамыз.</a:t>
            </a:r>
            <a:endParaRPr sz="1600" b="1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383280" y="3154680"/>
            <a:ext cx="5394960" cy="749808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326440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1">
                <a:solidFill>
                  <a:srgbClr val="FFFFFF"/>
                </a:solidFill>
                <a:latin typeface="Calibri" panose="020F0502020204030204"/>
              </a:rPr>
              <a:t>sin(arcsin x) = x,   x ∈ [−1; 1]</a:t>
            </a:r>
            <a:endParaRPr sz="1900" b="1" i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4114800"/>
            <a:ext cx="3749039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114800"/>
            <a:ext cx="3749039" cy="36576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4151376"/>
            <a:ext cx="356616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Анықталу </a:t>
            </a:r>
            <a:r>
              <a:rPr lang="" sz="1100" b="1" i="0">
                <a:solidFill>
                  <a:srgbClr val="FFFFFF"/>
                </a:solidFill>
                <a:latin typeface="Calibri" panose="020F0502020204030204"/>
              </a:rPr>
              <a:t>облысы</a:t>
            </a:r>
            <a:endParaRPr lang=""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4048" y="4544568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369A1"/>
                </a:solidFill>
                <a:latin typeface="Calibri" panose="020F0502020204030204"/>
              </a:rPr>
              <a:t>D(f) = [−1; 1]</a:t>
            </a:r>
            <a:endParaRPr sz="1700" b="1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187952" y="4114800"/>
            <a:ext cx="3749039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87952" y="4114800"/>
            <a:ext cx="3749039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4151376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Мәндер жиыны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297680" y="4544568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B6D4"/>
                </a:solidFill>
                <a:latin typeface="Calibri" panose="020F0502020204030204"/>
              </a:rPr>
              <a:t>E(f) = [−π/2; π/2]</a:t>
            </a:r>
            <a:endParaRPr sz="1700" b="1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101584" y="4114800"/>
            <a:ext cx="3749039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01584" y="4114800"/>
            <a:ext cx="3749039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4151376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Монотондылық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11312" y="4544568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59669"/>
                </a:solidFill>
                <a:latin typeface="Calibri" panose="020F0502020204030204"/>
              </a:rPr>
              <a:t>Өспелі ↗</a:t>
            </a:r>
            <a:endParaRPr sz="1700" b="1" i="0">
              <a:solidFill>
                <a:srgbClr val="059669"/>
              </a:solidFill>
              <a:latin typeface="Calibri" panose="020F050202020403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74320" y="5440680"/>
            <a:ext cx="11640312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559552"/>
            <a:ext cx="112471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C1A2E"/>
                </a:solidFill>
                <a:latin typeface="Calibri" panose="020F0502020204030204"/>
              </a:rPr>
              <a:t>📌 </a:t>
            </a:r>
            <a:r>
              <a:rPr lang="" sz="1400" b="0" i="1">
                <a:solidFill>
                  <a:srgbClr val="0C1A2E"/>
                </a:solidFill>
                <a:latin typeface="Calibri" panose="020F0502020204030204"/>
              </a:rPr>
              <a:t>   </a:t>
            </a:r>
            <a:r>
              <a:rPr sz="1400" b="0" i="1">
                <a:solidFill>
                  <a:srgbClr val="0C1A2E"/>
                </a:solidFill>
                <a:latin typeface="Calibri" panose="020F0502020204030204"/>
              </a:rPr>
              <a:t>Мысал:  arcsin(1) = π/2   өйткені   sin(π/2) = 1   және   π/2 ∈ [−π/2; π/2]</a:t>
            </a:r>
            <a:endParaRPr sz="1400" b="0" i="1">
              <a:solidFill>
                <a:srgbClr val="0C1A2E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3258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C1A2E"/>
                </a:solidFill>
                <a:latin typeface="Calibri" panose="020F0502020204030204"/>
              </a:rPr>
              <a:t>arcsin — Негізгі мәндер</a:t>
            </a:r>
            <a:endParaRPr sz="3000" b="1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608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6A8A"/>
                </a:solidFill>
                <a:latin typeface="Calibri" panose="020F0502020204030204"/>
              </a:rPr>
              <a:t>Стандартты бұрыштар кестесі</a:t>
            </a:r>
            <a:endParaRPr sz="1300" b="0" i="0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325880"/>
            <a:ext cx="12188952" cy="254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81328"/>
            <a:ext cx="1371600" cy="40233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5544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x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645920" y="1481328"/>
            <a:ext cx="1645920" cy="40233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15544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arcsin x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91840" y="1481328"/>
            <a:ext cx="4663440" cy="40233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4992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Дәлелдеу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74320" y="1883664"/>
            <a:ext cx="1371600" cy="47548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975104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97706"/>
                </a:solidFill>
                <a:latin typeface="Calibri" panose="020F0502020204030204"/>
              </a:rPr>
              <a:t>−1</a:t>
            </a:r>
            <a:endParaRPr sz="1300" b="0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645920" y="1883664"/>
            <a:ext cx="1645920" cy="47548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19072" y="1975104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369A1"/>
                </a:solidFill>
                <a:latin typeface="Calibri" panose="020F0502020204030204"/>
              </a:rPr>
              <a:t>−π/2</a:t>
            </a:r>
            <a:endParaRPr sz="1300" b="0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91840" y="1883664"/>
            <a:ext cx="4663440" cy="47548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64992" y="1975104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6A8A"/>
                </a:solidFill>
                <a:latin typeface="Calibri" panose="020F0502020204030204"/>
              </a:rPr>
              <a:t>sin(−π/2) = −1</a:t>
            </a:r>
            <a:endParaRPr sz="1300" b="0" i="1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74320" y="2359152"/>
            <a:ext cx="1371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245059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97706"/>
                </a:solidFill>
                <a:latin typeface="Calibri" panose="020F0502020204030204"/>
              </a:rPr>
              <a:t>−√3/2</a:t>
            </a:r>
            <a:endParaRPr sz="1300" b="0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645920" y="2359152"/>
            <a:ext cx="1645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19072" y="245059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369A1"/>
                </a:solidFill>
                <a:latin typeface="Calibri" panose="020F0502020204030204"/>
              </a:rPr>
              <a:t>−π/3</a:t>
            </a:r>
            <a:endParaRPr sz="1300" b="0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291840" y="2359152"/>
            <a:ext cx="4663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64992" y="2450592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6A8A"/>
                </a:solidFill>
                <a:latin typeface="Calibri" panose="020F0502020204030204"/>
              </a:rPr>
              <a:t>sin(−π/3) = −√3/2</a:t>
            </a:r>
            <a:endParaRPr sz="1300" b="0" i="1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74320" y="2834640"/>
            <a:ext cx="1371600" cy="47548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2926080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97706"/>
                </a:solidFill>
                <a:latin typeface="Calibri" panose="020F0502020204030204"/>
              </a:rPr>
              <a:t>−√2/2</a:t>
            </a:r>
            <a:endParaRPr sz="1300" b="0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645920" y="2834640"/>
            <a:ext cx="1645920" cy="47548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19072" y="292608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369A1"/>
                </a:solidFill>
                <a:latin typeface="Calibri" panose="020F0502020204030204"/>
              </a:rPr>
              <a:t>−π/4</a:t>
            </a:r>
            <a:endParaRPr sz="1300" b="0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291840" y="2834640"/>
            <a:ext cx="4663440" cy="47548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64992" y="2926080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6A8A"/>
                </a:solidFill>
                <a:latin typeface="Calibri" panose="020F0502020204030204"/>
              </a:rPr>
              <a:t>sin(−π/4) = −√2/2</a:t>
            </a:r>
            <a:endParaRPr sz="1300" b="0" i="1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74320" y="3310128"/>
            <a:ext cx="1371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3401568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97706"/>
                </a:solidFill>
                <a:latin typeface="Calibri" panose="020F0502020204030204"/>
              </a:rPr>
              <a:t>−1/2</a:t>
            </a:r>
            <a:endParaRPr sz="1300" b="0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645920" y="3310128"/>
            <a:ext cx="1645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19072" y="340156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369A1"/>
                </a:solidFill>
                <a:latin typeface="Calibri" panose="020F0502020204030204"/>
              </a:rPr>
              <a:t>−π/6</a:t>
            </a:r>
            <a:endParaRPr sz="1300" b="0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291840" y="3310128"/>
            <a:ext cx="4663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64992" y="3401568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6A8A"/>
                </a:solidFill>
                <a:latin typeface="Calibri" panose="020F0502020204030204"/>
              </a:rPr>
              <a:t>sin(−π/6) = −1/2</a:t>
            </a:r>
            <a:endParaRPr sz="1300" b="0" i="1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74320" y="3785616"/>
            <a:ext cx="1371600" cy="47548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" y="3877056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97706"/>
                </a:solidFill>
                <a:latin typeface="Calibri" panose="020F0502020204030204"/>
              </a:rPr>
              <a:t>0</a:t>
            </a:r>
            <a:endParaRPr sz="1300" b="0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645920" y="3785616"/>
            <a:ext cx="1645920" cy="47548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719072" y="387705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369A1"/>
                </a:solidFill>
                <a:latin typeface="Calibri" panose="020F0502020204030204"/>
              </a:rPr>
              <a:t>0</a:t>
            </a:r>
            <a:endParaRPr sz="1300" b="0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291840" y="3785616"/>
            <a:ext cx="4663440" cy="47548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64992" y="387705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6A8A"/>
                </a:solidFill>
                <a:latin typeface="Calibri" panose="020F0502020204030204"/>
              </a:rPr>
              <a:t>sin(0) = 0</a:t>
            </a:r>
            <a:endParaRPr sz="1300" b="0" i="1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74320" y="4261104"/>
            <a:ext cx="1371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472" y="4352544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97706"/>
                </a:solidFill>
                <a:latin typeface="Calibri" panose="020F0502020204030204"/>
              </a:rPr>
              <a:t>1/2</a:t>
            </a:r>
            <a:endParaRPr sz="1300" b="0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645920" y="4261104"/>
            <a:ext cx="1645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719072" y="4352544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369A1"/>
                </a:solidFill>
                <a:latin typeface="Calibri" panose="020F0502020204030204"/>
              </a:rPr>
              <a:t>π/6</a:t>
            </a:r>
            <a:endParaRPr sz="1300" b="0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291840" y="4261104"/>
            <a:ext cx="4663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64992" y="4352544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6A8A"/>
                </a:solidFill>
                <a:latin typeface="Calibri" panose="020F0502020204030204"/>
              </a:rPr>
              <a:t>sin(π/6) = 1/2</a:t>
            </a:r>
            <a:endParaRPr sz="1300" b="0" i="1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274320" y="4736592"/>
            <a:ext cx="1371600" cy="47548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7472" y="482803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97706"/>
                </a:solidFill>
                <a:latin typeface="Calibri" panose="020F0502020204030204"/>
              </a:rPr>
              <a:t>√2/2</a:t>
            </a:r>
            <a:endParaRPr sz="1300" b="0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645920" y="4736592"/>
            <a:ext cx="1645920" cy="47548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719072" y="482803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369A1"/>
                </a:solidFill>
                <a:latin typeface="Calibri" panose="020F0502020204030204"/>
              </a:rPr>
              <a:t>π/4</a:t>
            </a:r>
            <a:endParaRPr sz="1300" b="0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3291840" y="4736592"/>
            <a:ext cx="4663440" cy="47548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64992" y="4828032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6A8A"/>
                </a:solidFill>
                <a:latin typeface="Calibri" panose="020F0502020204030204"/>
              </a:rPr>
              <a:t>sin(π/4) = √2/2</a:t>
            </a:r>
            <a:endParaRPr sz="1300" b="0" i="1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274320" y="5212080"/>
            <a:ext cx="1371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7472" y="5303520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97706"/>
                </a:solidFill>
                <a:latin typeface="Calibri" panose="020F0502020204030204"/>
              </a:rPr>
              <a:t>√3/2</a:t>
            </a:r>
            <a:endParaRPr sz="1300" b="0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645920" y="5212080"/>
            <a:ext cx="1645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719072" y="530352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369A1"/>
                </a:solidFill>
                <a:latin typeface="Calibri" panose="020F0502020204030204"/>
              </a:rPr>
              <a:t>π/3</a:t>
            </a:r>
            <a:endParaRPr sz="1300" b="0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3291840" y="5212080"/>
            <a:ext cx="4663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64992" y="5303520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6A8A"/>
                </a:solidFill>
                <a:latin typeface="Calibri" panose="020F0502020204030204"/>
              </a:rPr>
              <a:t>sin(π/3) = √3/2</a:t>
            </a:r>
            <a:endParaRPr sz="1300" b="0" i="1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274320" y="5687568"/>
            <a:ext cx="1371600" cy="47548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7472" y="5779008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97706"/>
                </a:solidFill>
                <a:latin typeface="Calibri" panose="020F0502020204030204"/>
              </a:rPr>
              <a:t>1</a:t>
            </a:r>
            <a:endParaRPr sz="1300" b="0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1645920" y="5687568"/>
            <a:ext cx="1645920" cy="47548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719072" y="577900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369A1"/>
                </a:solidFill>
                <a:latin typeface="Calibri" panose="020F0502020204030204"/>
              </a:rPr>
              <a:t>π/2</a:t>
            </a:r>
            <a:endParaRPr sz="1300" b="0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3291840" y="5687568"/>
            <a:ext cx="4663440" cy="47548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64992" y="5779008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6A8A"/>
                </a:solidFill>
                <a:latin typeface="Calibri" panose="020F0502020204030204"/>
              </a:rPr>
              <a:t>sin(π/2) = 1</a:t>
            </a:r>
            <a:endParaRPr sz="1300" b="0" i="1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8321040" y="1481328"/>
            <a:ext cx="365760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321040" y="1481328"/>
            <a:ext cx="3657600" cy="40233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12480" y="151790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ЕСТЕ САҚТА!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412480" y="19933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69A1"/>
                </a:solidFill>
                <a:latin typeface="Calibri" panose="020F0502020204030204"/>
              </a:rPr>
              <a:t>arcsin(−x) = −arcsin(x)</a:t>
            </a:r>
            <a:endParaRPr sz="1200" b="1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412480" y="2331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6A8A"/>
                </a:solidFill>
                <a:latin typeface="Calibri" panose="020F0502020204030204"/>
              </a:rPr>
              <a:t>(тақ функция)</a:t>
            </a:r>
            <a:endParaRPr sz="1200" b="0" i="0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8412480" y="300837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 panose="020F0502020204030204"/>
              </a:rPr>
              <a:t>Монотонды өспелі ↗</a:t>
            </a:r>
            <a:endParaRPr sz="1200" b="1" i="0">
              <a:solidFill>
                <a:srgbClr val="059669"/>
              </a:solidFill>
              <a:latin typeface="Calibri" panose="020F0502020204030204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8412480" y="33467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6A8A"/>
                </a:solidFill>
                <a:latin typeface="Calibri" panose="020F0502020204030204"/>
              </a:rPr>
              <a:t>−π/2-ден π/2-ге дейін</a:t>
            </a:r>
            <a:endParaRPr sz="1200" b="0" i="0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412480" y="4023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 panose="020F0502020204030204"/>
              </a:rPr>
              <a:t>arcsin(0) = 0</a:t>
            </a:r>
            <a:endParaRPr sz="1200" b="1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8412480" y="436168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B6D4"/>
                </a:solidFill>
                <a:latin typeface="Calibri" panose="020F0502020204030204"/>
              </a:rPr>
              <a:t>arcsin(1) = π/2</a:t>
            </a:r>
            <a:endParaRPr sz="1200" b="0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8412480" y="47000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B6D4"/>
                </a:solidFill>
                <a:latin typeface="Calibri" panose="020F0502020204030204"/>
              </a:rPr>
              <a:t>arcsin(−1) = −π/2</a:t>
            </a:r>
            <a:endParaRPr sz="1200" b="0" i="0">
              <a:solidFill>
                <a:srgbClr val="06B6D4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3258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C1A2E"/>
                </a:solidFill>
                <a:latin typeface="Calibri" panose="020F0502020204030204"/>
              </a:rPr>
              <a:t>Арккосинус · arccos</a:t>
            </a:r>
            <a:endParaRPr sz="3000" b="1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608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6A8A"/>
                </a:solidFill>
                <a:latin typeface="Calibri" panose="020F0502020204030204"/>
              </a:rPr>
              <a:t>ІІ. cos(x) функциясына кері функция</a:t>
            </a:r>
            <a:endParaRPr sz="1300" b="0" i="0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325880"/>
            <a:ext cx="12188952" cy="254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11640312" cy="1481328"/>
          </a:xfrm>
          <a:prstGeom prst="rect">
            <a:avLst/>
          </a:prstGeom>
          <a:solidFill>
            <a:srgbClr val="ECFEFF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1463040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499616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 panose="020F0502020204030204"/>
              </a:rPr>
              <a:t>АНЫҚТАМА</a:t>
            </a:r>
            <a:endParaRPr sz="1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C1A2E"/>
                </a:solidFill>
                <a:latin typeface="Calibri" panose="020F0502020204030204"/>
              </a:rPr>
              <a:t>y = arccos x  деп  x-тің  [−1; 1]  аралығындағы мәні үшін</a:t>
            </a:r>
            <a:endParaRPr sz="1600" b="0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2304288"/>
            <a:ext cx="112471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 panose="020F0502020204030204"/>
              </a:rPr>
              <a:t>cos</a:t>
            </a:r>
            <a:r>
              <a:rPr lang="" sz="1600" b="1" i="0">
                <a:solidFill>
                  <a:srgbClr val="06B6D4"/>
                </a:solidFill>
                <a:latin typeface="Calibri" panose="020F0502020204030204"/>
              </a:rPr>
              <a:t> </a:t>
            </a:r>
            <a:r>
              <a:rPr sz="1600" b="1">
                <a:solidFill>
                  <a:srgbClr val="06B6D4"/>
                </a:solidFill>
                <a:latin typeface="Calibri" panose="020F0502020204030204"/>
                <a:sym typeface="+mn-ea"/>
              </a:rPr>
              <a:t>x</a:t>
            </a:r>
            <a:r>
              <a:rPr sz="1600" b="1" i="0">
                <a:solidFill>
                  <a:srgbClr val="06B6D4"/>
                </a:solidFill>
                <a:latin typeface="Calibri" panose="020F0502020204030204"/>
              </a:rPr>
              <a:t> = </a:t>
            </a:r>
            <a:r>
              <a:rPr sz="1600" b="1">
                <a:solidFill>
                  <a:srgbClr val="06B6D4"/>
                </a:solidFill>
                <a:latin typeface="Calibri" panose="020F0502020204030204"/>
                <a:sym typeface="+mn-ea"/>
              </a:rPr>
              <a:t>y</a:t>
            </a:r>
            <a:r>
              <a:rPr sz="1600" b="1" i="0">
                <a:solidFill>
                  <a:srgbClr val="06B6D4"/>
                </a:solidFill>
                <a:latin typeface="Calibri" panose="020F0502020204030204"/>
              </a:rPr>
              <a:t>   және   y ∈ [0;  π]  болатын санды айтамыз.</a:t>
            </a:r>
            <a:endParaRPr sz="1600" b="1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383280" y="3154680"/>
            <a:ext cx="5394960" cy="7498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326440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1">
                <a:solidFill>
                  <a:srgbClr val="FFFFFF"/>
                </a:solidFill>
                <a:latin typeface="Calibri" panose="020F0502020204030204"/>
              </a:rPr>
              <a:t>cos(arccos x) = x,   x ∈ [−1; 1]</a:t>
            </a:r>
            <a:endParaRPr sz="1900" b="1" i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4114800"/>
            <a:ext cx="3749039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114800"/>
            <a:ext cx="3749039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4151376"/>
            <a:ext cx="356616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Анықталу </a:t>
            </a:r>
            <a:r>
              <a:rPr lang="" sz="1100" b="1" i="0">
                <a:solidFill>
                  <a:srgbClr val="FFFFFF"/>
                </a:solidFill>
                <a:latin typeface="Calibri" panose="020F0502020204030204"/>
              </a:rPr>
              <a:t>облысы</a:t>
            </a:r>
            <a:endParaRPr lang=""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4048" y="4544568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B6D4"/>
                </a:solidFill>
                <a:latin typeface="Calibri" panose="020F0502020204030204"/>
              </a:rPr>
              <a:t>D(f) = [−1; 1]</a:t>
            </a:r>
            <a:endParaRPr sz="1700" b="1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187952" y="4114800"/>
            <a:ext cx="3749039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87952" y="4114800"/>
            <a:ext cx="3749039" cy="36576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4151376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Мәндер жиыны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297680" y="4544568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369A1"/>
                </a:solidFill>
                <a:latin typeface="Calibri" panose="020F0502020204030204"/>
              </a:rPr>
              <a:t>E(f) = [0; π]</a:t>
            </a:r>
            <a:endParaRPr sz="1700" b="1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101584" y="4114800"/>
            <a:ext cx="3749039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1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01584" y="4114800"/>
            <a:ext cx="3749039" cy="365760"/>
          </a:xfrm>
          <a:prstGeom prst="rect">
            <a:avLst/>
          </a:prstGeom>
          <a:solidFill>
            <a:srgbClr val="E11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4151376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Монотондылық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11312" y="4544568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1125E"/>
                </a:solidFill>
                <a:latin typeface="Calibri" panose="020F0502020204030204"/>
              </a:rPr>
              <a:t>Кемімелі ↘</a:t>
            </a:r>
            <a:endParaRPr sz="1700" b="1" i="0">
              <a:solidFill>
                <a:srgbClr val="E1125E"/>
              </a:solidFill>
              <a:latin typeface="Calibri" panose="020F050202020403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74320" y="5440680"/>
            <a:ext cx="11640312" cy="777240"/>
          </a:xfrm>
          <a:prstGeom prst="rect">
            <a:avLst/>
          </a:prstGeom>
          <a:solidFill>
            <a:srgbClr val="ECFE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559552"/>
            <a:ext cx="112471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C1A2E"/>
                </a:solidFill>
                <a:latin typeface="Calibri" panose="020F0502020204030204"/>
              </a:rPr>
              <a:t>📌 </a:t>
            </a:r>
            <a:r>
              <a:rPr lang="" sz="1400" b="0" i="1">
                <a:solidFill>
                  <a:srgbClr val="0C1A2E"/>
                </a:solidFill>
                <a:latin typeface="Calibri" panose="020F0502020204030204"/>
              </a:rPr>
              <a:t>   </a:t>
            </a:r>
            <a:r>
              <a:rPr sz="1400" b="0" i="1">
                <a:solidFill>
                  <a:srgbClr val="0C1A2E"/>
                </a:solidFill>
                <a:latin typeface="Calibri" panose="020F0502020204030204"/>
              </a:rPr>
              <a:t>Мысал:  arccos(0) = π/2   өйткені   cos(π/2) = 0   және   π/2 ∈ [0; π]</a:t>
            </a:r>
            <a:endParaRPr sz="1400" b="0" i="1">
              <a:solidFill>
                <a:srgbClr val="0C1A2E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3258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C1A2E"/>
                </a:solidFill>
                <a:latin typeface="Calibri" panose="020F0502020204030204"/>
              </a:rPr>
              <a:t>arccos — Негізгі мәндер + Маңызды теңдіктер</a:t>
            </a:r>
            <a:endParaRPr sz="3000" b="1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608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6A8A"/>
                </a:solidFill>
                <a:latin typeface="Calibri" panose="020F0502020204030204"/>
              </a:rPr>
              <a:t>Кері косинустың кестесі</a:t>
            </a:r>
            <a:endParaRPr sz="1300" b="0" i="0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325880"/>
            <a:ext cx="12188952" cy="254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81328"/>
            <a:ext cx="1371600" cy="4023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5179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x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645920" y="1481328"/>
            <a:ext cx="1645920" cy="4023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15179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arccos x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91840" y="1481328"/>
            <a:ext cx="4663440" cy="4023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4992" y="15179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Дәлелдеу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74320" y="1883664"/>
            <a:ext cx="1371600" cy="475488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975104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97706"/>
                </a:solidFill>
                <a:latin typeface="Calibri" panose="020F0502020204030204"/>
              </a:rPr>
              <a:t>−1</a:t>
            </a:r>
            <a:endParaRPr sz="1300" b="0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645920" y="1883664"/>
            <a:ext cx="1645920" cy="475488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19072" y="1975104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B6D4"/>
                </a:solidFill>
                <a:latin typeface="Calibri" panose="020F0502020204030204"/>
              </a:rPr>
              <a:t>π</a:t>
            </a:r>
            <a:endParaRPr sz="1300" b="0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91840" y="1883664"/>
            <a:ext cx="4663440" cy="475488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64992" y="1975104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6A8A"/>
                </a:solidFill>
                <a:latin typeface="Calibri" panose="020F0502020204030204"/>
              </a:rPr>
              <a:t>cos(π) = −1</a:t>
            </a:r>
            <a:endParaRPr sz="1300" b="0" i="1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74320" y="2359152"/>
            <a:ext cx="1371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245059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97706"/>
                </a:solidFill>
                <a:latin typeface="Calibri" panose="020F0502020204030204"/>
              </a:rPr>
              <a:t>−√3/2</a:t>
            </a:r>
            <a:endParaRPr sz="1300" b="0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645920" y="2359152"/>
            <a:ext cx="1645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19072" y="245059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B6D4"/>
                </a:solidFill>
                <a:latin typeface="Calibri" panose="020F0502020204030204"/>
              </a:rPr>
              <a:t>5π/6</a:t>
            </a:r>
            <a:endParaRPr sz="1300" b="0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291840" y="2359152"/>
            <a:ext cx="4663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64992" y="2450592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6A8A"/>
                </a:solidFill>
                <a:latin typeface="Calibri" panose="020F0502020204030204"/>
              </a:rPr>
              <a:t>cos(5π/6) = −√3/2</a:t>
            </a:r>
            <a:endParaRPr sz="1300" b="0" i="1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74320" y="2834640"/>
            <a:ext cx="1371600" cy="475488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2926080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97706"/>
                </a:solidFill>
                <a:latin typeface="Calibri" panose="020F0502020204030204"/>
              </a:rPr>
              <a:t>−√2/2</a:t>
            </a:r>
            <a:endParaRPr sz="1300" b="0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645920" y="2834640"/>
            <a:ext cx="1645920" cy="475488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19072" y="292608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B6D4"/>
                </a:solidFill>
                <a:latin typeface="Calibri" panose="020F0502020204030204"/>
              </a:rPr>
              <a:t>3π/4</a:t>
            </a:r>
            <a:endParaRPr sz="1300" b="0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291840" y="2834640"/>
            <a:ext cx="4663440" cy="475488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64992" y="2926080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6A8A"/>
                </a:solidFill>
                <a:latin typeface="Calibri" panose="020F0502020204030204"/>
              </a:rPr>
              <a:t>cos(3π/4) = −√2/2</a:t>
            </a:r>
            <a:endParaRPr sz="1300" b="0" i="1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74320" y="3310128"/>
            <a:ext cx="1371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3401568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97706"/>
                </a:solidFill>
                <a:latin typeface="Calibri" panose="020F0502020204030204"/>
              </a:rPr>
              <a:t>−1/2</a:t>
            </a:r>
            <a:endParaRPr sz="1300" b="0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645920" y="3310128"/>
            <a:ext cx="1645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19072" y="340156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B6D4"/>
                </a:solidFill>
                <a:latin typeface="Calibri" panose="020F0502020204030204"/>
              </a:rPr>
              <a:t>2π/3</a:t>
            </a:r>
            <a:endParaRPr sz="1300" b="0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291840" y="3310128"/>
            <a:ext cx="4663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64992" y="3401568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6A8A"/>
                </a:solidFill>
                <a:latin typeface="Calibri" panose="020F0502020204030204"/>
              </a:rPr>
              <a:t>cos(2π/3) = −1/2</a:t>
            </a:r>
            <a:endParaRPr sz="1300" b="0" i="1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74320" y="3785616"/>
            <a:ext cx="1371600" cy="475488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" y="3877056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97706"/>
                </a:solidFill>
                <a:latin typeface="Calibri" panose="020F0502020204030204"/>
              </a:rPr>
              <a:t>0</a:t>
            </a:r>
            <a:endParaRPr sz="1300" b="0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645920" y="3785616"/>
            <a:ext cx="1645920" cy="475488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719072" y="387705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B6D4"/>
                </a:solidFill>
                <a:latin typeface="Calibri" panose="020F0502020204030204"/>
              </a:rPr>
              <a:t>π/2</a:t>
            </a:r>
            <a:endParaRPr sz="1300" b="0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291840" y="3785616"/>
            <a:ext cx="4663440" cy="475488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64992" y="387705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6A8A"/>
                </a:solidFill>
                <a:latin typeface="Calibri" panose="020F0502020204030204"/>
              </a:rPr>
              <a:t>cos(π/2) = 0</a:t>
            </a:r>
            <a:endParaRPr sz="1300" b="0" i="1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74320" y="4261104"/>
            <a:ext cx="1371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472" y="4352544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97706"/>
                </a:solidFill>
                <a:latin typeface="Calibri" panose="020F0502020204030204"/>
              </a:rPr>
              <a:t>1/2</a:t>
            </a:r>
            <a:endParaRPr sz="1300" b="0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645920" y="4261104"/>
            <a:ext cx="1645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719072" y="4352544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B6D4"/>
                </a:solidFill>
                <a:latin typeface="Calibri" panose="020F0502020204030204"/>
              </a:rPr>
              <a:t>π/3</a:t>
            </a:r>
            <a:endParaRPr sz="1300" b="0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291840" y="4261104"/>
            <a:ext cx="4663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64992" y="4352544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6A8A"/>
                </a:solidFill>
                <a:latin typeface="Calibri" panose="020F0502020204030204"/>
              </a:rPr>
              <a:t>cos(π/3) = 1/2</a:t>
            </a:r>
            <a:endParaRPr sz="1300" b="0" i="1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274320" y="4736592"/>
            <a:ext cx="1371600" cy="475488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7472" y="482803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97706"/>
                </a:solidFill>
                <a:latin typeface="Calibri" panose="020F0502020204030204"/>
              </a:rPr>
              <a:t>√2/2</a:t>
            </a:r>
            <a:endParaRPr sz="1300" b="0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645920" y="4736592"/>
            <a:ext cx="1645920" cy="475488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719072" y="482803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B6D4"/>
                </a:solidFill>
                <a:latin typeface="Calibri" panose="020F0502020204030204"/>
              </a:rPr>
              <a:t>π/4</a:t>
            </a:r>
            <a:endParaRPr sz="1300" b="0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3291840" y="4736592"/>
            <a:ext cx="4663440" cy="475488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64992" y="4828032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6A8A"/>
                </a:solidFill>
                <a:latin typeface="Calibri" panose="020F0502020204030204"/>
              </a:rPr>
              <a:t>cos(π/4) = √2/2</a:t>
            </a:r>
            <a:endParaRPr sz="1300" b="0" i="1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274320" y="5212080"/>
            <a:ext cx="1371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7472" y="5303520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97706"/>
                </a:solidFill>
                <a:latin typeface="Calibri" panose="020F0502020204030204"/>
              </a:rPr>
              <a:t>√3/2</a:t>
            </a:r>
            <a:endParaRPr sz="1300" b="0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645920" y="5212080"/>
            <a:ext cx="1645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719072" y="530352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B6D4"/>
                </a:solidFill>
                <a:latin typeface="Calibri" panose="020F0502020204030204"/>
              </a:rPr>
              <a:t>π/6</a:t>
            </a:r>
            <a:endParaRPr sz="1300" b="0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3291840" y="5212080"/>
            <a:ext cx="4663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64992" y="5303520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6A8A"/>
                </a:solidFill>
                <a:latin typeface="Calibri" panose="020F0502020204030204"/>
              </a:rPr>
              <a:t>cos(π/6) = √3/2</a:t>
            </a:r>
            <a:endParaRPr sz="1300" b="0" i="1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274320" y="5687568"/>
            <a:ext cx="1371600" cy="475488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7472" y="5779008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97706"/>
                </a:solidFill>
                <a:latin typeface="Calibri" panose="020F0502020204030204"/>
              </a:rPr>
              <a:t>1</a:t>
            </a:r>
            <a:endParaRPr sz="1300" b="0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1645920" y="5687568"/>
            <a:ext cx="1645920" cy="475488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719072" y="577900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B6D4"/>
                </a:solidFill>
                <a:latin typeface="Calibri" panose="020F0502020204030204"/>
              </a:rPr>
              <a:t>0</a:t>
            </a:r>
            <a:endParaRPr sz="1300" b="0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3291840" y="5687568"/>
            <a:ext cx="4663440" cy="475488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64992" y="5779008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6A8A"/>
                </a:solidFill>
                <a:latin typeface="Calibri" panose="020F0502020204030204"/>
              </a:rPr>
              <a:t>cos(0) = 1</a:t>
            </a:r>
            <a:endParaRPr sz="1300" b="0" i="1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8321040" y="1481328"/>
            <a:ext cx="3657600" cy="4983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321040" y="1481328"/>
            <a:ext cx="3657600" cy="4023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12480" y="151790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Маңызды теңдіктер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412480" y="20116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69A1"/>
                </a:solidFill>
                <a:latin typeface="Calibri" panose="020F0502020204030204"/>
              </a:rPr>
              <a:t>arccos(−x) = π − arccos(x)</a:t>
            </a:r>
            <a:endParaRPr sz="1200" b="1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412480" y="24688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 panose="020F0502020204030204"/>
              </a:rPr>
              <a:t>arcsin(x) + arccos(x) = π/2</a:t>
            </a:r>
            <a:endParaRPr sz="1200" b="1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8412480" y="29260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 panose="020F0502020204030204"/>
              </a:rPr>
              <a:t>cos(arccos x) = x,  x ∈ [−1;1]</a:t>
            </a:r>
            <a:endParaRPr sz="1200" b="1" i="0">
              <a:solidFill>
                <a:srgbClr val="059669"/>
              </a:solidFill>
              <a:latin typeface="Calibri" panose="020F0502020204030204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8412480" y="3840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1A2E"/>
                </a:solidFill>
                <a:latin typeface="Calibri" panose="020F0502020204030204"/>
              </a:rPr>
              <a:t>arccos функциясы:</a:t>
            </a:r>
            <a:endParaRPr sz="1200" b="1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412480" y="42976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6A8A"/>
                </a:solidFill>
                <a:latin typeface="Calibri" panose="020F0502020204030204"/>
              </a:rPr>
              <a:t>0-ден π-ге дейін кемиді</a:t>
            </a:r>
            <a:endParaRPr sz="1200" b="0" i="0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8412480" y="47548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1125E"/>
                </a:solidFill>
                <a:latin typeface="Calibri" panose="020F0502020204030204"/>
              </a:rPr>
              <a:t>Монотонды кемімелі ↘</a:t>
            </a:r>
            <a:endParaRPr sz="1200" b="0" i="0">
              <a:solidFill>
                <a:srgbClr val="E1125E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3258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114300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C1A2E"/>
                </a:solidFill>
                <a:latin typeface="Calibri" panose="020F0502020204030204"/>
              </a:rPr>
              <a:t>Арктангенс · arct</a:t>
            </a:r>
            <a:r>
              <a:rPr lang="en-US" sz="3000" b="1" i="0">
                <a:solidFill>
                  <a:srgbClr val="0C1A2E"/>
                </a:solidFill>
                <a:latin typeface="Calibri" panose="020F0502020204030204"/>
              </a:rPr>
              <a:t>g </a:t>
            </a:r>
            <a:endParaRPr lang="en-US" sz="3000" b="1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608" y="804672"/>
            <a:ext cx="114300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6A8A"/>
                </a:solidFill>
                <a:latin typeface="Calibri" panose="020F0502020204030204"/>
              </a:rPr>
              <a:t>ІІІ. t</a:t>
            </a:r>
            <a:r>
              <a:rPr lang="en-US" sz="1300" b="0" i="0">
                <a:solidFill>
                  <a:srgbClr val="476A8A"/>
                </a:solidFill>
                <a:latin typeface="Calibri" panose="020F0502020204030204"/>
              </a:rPr>
              <a:t>g</a:t>
            </a:r>
            <a:r>
              <a:rPr sz="1300" b="0" i="0">
                <a:solidFill>
                  <a:srgbClr val="476A8A"/>
                </a:solidFill>
                <a:latin typeface="Calibri" panose="020F0502020204030204"/>
              </a:rPr>
              <a:t>(x) функциясына кері функция</a:t>
            </a:r>
            <a:endParaRPr sz="1300" b="0" i="0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325880"/>
            <a:ext cx="12188952" cy="254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11640312" cy="1481328"/>
          </a:xfrm>
          <a:prstGeom prst="rect">
            <a:avLst/>
          </a:prstGeom>
          <a:solidFill>
            <a:srgbClr val="D1FAE5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146304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499616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 panose="020F0502020204030204"/>
              </a:rPr>
              <a:t>АНЫҚТАМА</a:t>
            </a:r>
            <a:endParaRPr sz="1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112471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C1A2E"/>
                </a:solidFill>
                <a:latin typeface="Calibri" panose="020F0502020204030204"/>
              </a:rPr>
              <a:t>y = arct</a:t>
            </a:r>
            <a:r>
              <a:rPr lang="en-US" sz="1600" b="0" i="0">
                <a:solidFill>
                  <a:srgbClr val="0C1A2E"/>
                </a:solidFill>
                <a:latin typeface="Calibri" panose="020F0502020204030204"/>
              </a:rPr>
              <a:t>g</a:t>
            </a:r>
            <a:r>
              <a:rPr sz="1600" b="0" i="0">
                <a:solidFill>
                  <a:srgbClr val="0C1A2E"/>
                </a:solidFill>
                <a:latin typeface="Calibri" panose="020F0502020204030204"/>
              </a:rPr>
              <a:t> x  деп  x-тің  кез келген нақты мәні үшін</a:t>
            </a:r>
            <a:endParaRPr sz="1600" b="0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2304288"/>
            <a:ext cx="112471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9669"/>
                </a:solidFill>
                <a:latin typeface="Calibri" panose="020F0502020204030204"/>
              </a:rPr>
              <a:t>tan </a:t>
            </a:r>
            <a:r>
              <a:rPr sz="1600" b="1">
                <a:solidFill>
                  <a:srgbClr val="059669"/>
                </a:solidFill>
                <a:latin typeface="Calibri" panose="020F0502020204030204"/>
                <a:sym typeface="+mn-ea"/>
              </a:rPr>
              <a:t>x</a:t>
            </a:r>
            <a:r>
              <a:rPr sz="1600" b="1" i="0">
                <a:solidFill>
                  <a:srgbClr val="059669"/>
                </a:solidFill>
                <a:latin typeface="Calibri" panose="020F0502020204030204"/>
              </a:rPr>
              <a:t> = </a:t>
            </a:r>
            <a:r>
              <a:rPr sz="1600" b="1">
                <a:solidFill>
                  <a:srgbClr val="059669"/>
                </a:solidFill>
                <a:latin typeface="Calibri" panose="020F0502020204030204"/>
                <a:sym typeface="+mn-ea"/>
              </a:rPr>
              <a:t>y</a:t>
            </a:r>
            <a:r>
              <a:rPr sz="1600" b="1" i="0">
                <a:solidFill>
                  <a:srgbClr val="059669"/>
                </a:solidFill>
                <a:latin typeface="Calibri" panose="020F0502020204030204"/>
              </a:rPr>
              <a:t>   және   y ∈ (−π/2;  π/2)  болатын санды айтамыз.</a:t>
            </a:r>
            <a:endParaRPr sz="1600" b="1" i="0">
              <a:solidFill>
                <a:srgbClr val="059669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383280" y="3154680"/>
            <a:ext cx="5394960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326440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1">
                <a:solidFill>
                  <a:srgbClr val="FFFFFF"/>
                </a:solidFill>
                <a:latin typeface="Calibri" panose="020F0502020204030204"/>
              </a:rPr>
              <a:t>tan(arctan x) = x,   x ∈ ℝ</a:t>
            </a:r>
            <a:endParaRPr sz="1900" b="1" i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4114800"/>
            <a:ext cx="3749039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114800"/>
            <a:ext cx="3749039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4151376"/>
            <a:ext cx="356616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Анықталу </a:t>
            </a:r>
            <a:r>
              <a:rPr lang="" sz="1100" b="1" i="0">
                <a:solidFill>
                  <a:srgbClr val="FFFFFF"/>
                </a:solidFill>
                <a:latin typeface="Calibri" panose="020F0502020204030204"/>
              </a:rPr>
              <a:t>облысы</a:t>
            </a:r>
            <a:endParaRPr lang=""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4048" y="4544568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59669"/>
                </a:solidFill>
                <a:latin typeface="Calibri" panose="020F0502020204030204"/>
              </a:rPr>
              <a:t>D(f) = ℝ</a:t>
            </a:r>
            <a:endParaRPr sz="1700" b="1" i="0">
              <a:solidFill>
                <a:srgbClr val="059669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187952" y="4114800"/>
            <a:ext cx="3749039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87952" y="4114800"/>
            <a:ext cx="3749039" cy="36576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4151376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Мәндер жиыны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297680" y="4544568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369A1"/>
                </a:solidFill>
                <a:latin typeface="Calibri" panose="020F0502020204030204"/>
              </a:rPr>
              <a:t>E(f) = (−π/2; π/2)</a:t>
            </a:r>
            <a:endParaRPr sz="1700" b="1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101584" y="4114800"/>
            <a:ext cx="3749039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01584" y="4114800"/>
            <a:ext cx="3749039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4151376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Монотондылық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11312" y="4544568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59669"/>
                </a:solidFill>
                <a:latin typeface="Calibri" panose="020F0502020204030204"/>
              </a:rPr>
              <a:t>Өспелі ↗</a:t>
            </a:r>
            <a:endParaRPr sz="1700" b="1" i="0">
              <a:solidFill>
                <a:srgbClr val="059669"/>
              </a:solidFill>
              <a:latin typeface="Calibri" panose="020F050202020403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74320" y="5440680"/>
            <a:ext cx="11640312" cy="77724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559552"/>
            <a:ext cx="112471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C1A2E"/>
                </a:solidFill>
                <a:latin typeface="Calibri" panose="020F0502020204030204"/>
              </a:rPr>
              <a:t>📌 </a:t>
            </a:r>
            <a:r>
              <a:rPr lang="" sz="1400" b="0" i="1">
                <a:solidFill>
                  <a:srgbClr val="0C1A2E"/>
                </a:solidFill>
                <a:latin typeface="Calibri" panose="020F0502020204030204"/>
              </a:rPr>
              <a:t>  </a:t>
            </a:r>
            <a:r>
              <a:rPr sz="1400" b="0" i="1">
                <a:solidFill>
                  <a:srgbClr val="0C1A2E"/>
                </a:solidFill>
                <a:latin typeface="Calibri" panose="020F0502020204030204"/>
              </a:rPr>
              <a:t>Мысал:  arctan(1) = π/4   өйткені   tan(π/4) = 1   және   π/4 ∈ (−π/2; π/2)</a:t>
            </a:r>
            <a:endParaRPr sz="1400" b="0" i="1">
              <a:solidFill>
                <a:srgbClr val="0C1A2E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3258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114300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C1A2E"/>
                </a:solidFill>
                <a:latin typeface="Calibri" panose="020F0502020204030204"/>
              </a:rPr>
              <a:t>Арккотангенс · arcc</a:t>
            </a:r>
            <a:r>
              <a:rPr lang="en-US" sz="3000" b="1" i="0">
                <a:solidFill>
                  <a:srgbClr val="0C1A2E"/>
                </a:solidFill>
                <a:latin typeface="Calibri" panose="020F0502020204030204"/>
              </a:rPr>
              <a:t>tg</a:t>
            </a:r>
            <a:endParaRPr lang="en-US" sz="3000" b="1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608" y="804672"/>
            <a:ext cx="114300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6A8A"/>
                </a:solidFill>
                <a:latin typeface="Calibri" panose="020F0502020204030204"/>
              </a:rPr>
              <a:t>ІV. c</a:t>
            </a:r>
            <a:r>
              <a:rPr lang="en-US" sz="1300" b="0" i="0">
                <a:solidFill>
                  <a:srgbClr val="476A8A"/>
                </a:solidFill>
                <a:latin typeface="Calibri" panose="020F0502020204030204"/>
              </a:rPr>
              <a:t>tg</a:t>
            </a:r>
            <a:r>
              <a:rPr sz="1300" b="0" i="0">
                <a:solidFill>
                  <a:srgbClr val="476A8A"/>
                </a:solidFill>
                <a:latin typeface="Calibri" panose="020F0502020204030204"/>
              </a:rPr>
              <a:t>(x) функциясына кері функция</a:t>
            </a:r>
            <a:endParaRPr sz="1300" b="0" i="0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325880"/>
            <a:ext cx="12188952" cy="254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11640312" cy="1481328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1463040" cy="3840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499616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 panose="020F0502020204030204"/>
              </a:rPr>
              <a:t>АНЫҚТАМА</a:t>
            </a:r>
            <a:endParaRPr sz="1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112471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C1A2E"/>
                </a:solidFill>
                <a:latin typeface="Calibri" panose="020F0502020204030204"/>
              </a:rPr>
              <a:t>y = arcct</a:t>
            </a:r>
            <a:r>
              <a:rPr lang="en-US" sz="1600" b="0" i="0">
                <a:solidFill>
                  <a:srgbClr val="0C1A2E"/>
                </a:solidFill>
                <a:latin typeface="Calibri" panose="020F0502020204030204"/>
              </a:rPr>
              <a:t>g</a:t>
            </a:r>
            <a:r>
              <a:rPr sz="1600" b="0" i="0">
                <a:solidFill>
                  <a:srgbClr val="0C1A2E"/>
                </a:solidFill>
                <a:latin typeface="Calibri" panose="020F0502020204030204"/>
              </a:rPr>
              <a:t> x  деп  x-тің  кез келген нақты мәні үшін</a:t>
            </a:r>
            <a:endParaRPr sz="1600" b="0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2304288"/>
            <a:ext cx="112471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 panose="020F0502020204030204"/>
              </a:rPr>
              <a:t>cot </a:t>
            </a:r>
            <a:r>
              <a:rPr sz="1600" b="1">
                <a:solidFill>
                  <a:srgbClr val="D97706"/>
                </a:solidFill>
                <a:latin typeface="Calibri" panose="020F0502020204030204"/>
                <a:sym typeface="+mn-ea"/>
              </a:rPr>
              <a:t>x</a:t>
            </a:r>
            <a:r>
              <a:rPr sz="1600" b="1" i="0">
                <a:solidFill>
                  <a:srgbClr val="D97706"/>
                </a:solidFill>
                <a:latin typeface="Calibri" panose="020F0502020204030204"/>
              </a:rPr>
              <a:t> = </a:t>
            </a:r>
            <a:r>
              <a:rPr sz="1600" b="1">
                <a:solidFill>
                  <a:srgbClr val="D97706"/>
                </a:solidFill>
                <a:latin typeface="Calibri" panose="020F0502020204030204"/>
                <a:sym typeface="+mn-ea"/>
              </a:rPr>
              <a:t>y</a:t>
            </a:r>
            <a:r>
              <a:rPr sz="1600" b="1" i="0">
                <a:solidFill>
                  <a:srgbClr val="D97706"/>
                </a:solidFill>
                <a:latin typeface="Calibri" panose="020F0502020204030204"/>
              </a:rPr>
              <a:t>   және   y ∈ (0;  π)  болатын санды айтамыз.</a:t>
            </a:r>
            <a:endParaRPr sz="1600" b="1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383280" y="3154680"/>
            <a:ext cx="5394960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326440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1">
                <a:solidFill>
                  <a:srgbClr val="FFFFFF"/>
                </a:solidFill>
                <a:latin typeface="Calibri" panose="020F0502020204030204"/>
              </a:rPr>
              <a:t>cot(arccot x) = x,   x ∈ ℝ</a:t>
            </a:r>
            <a:endParaRPr sz="1900" b="1" i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4114800"/>
            <a:ext cx="3749039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114800"/>
            <a:ext cx="3749039" cy="365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4151376"/>
            <a:ext cx="356616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Анықталу </a:t>
            </a:r>
            <a:r>
              <a:rPr lang="" sz="1100" b="1" i="0">
                <a:solidFill>
                  <a:srgbClr val="FFFFFF"/>
                </a:solidFill>
                <a:latin typeface="Calibri" panose="020F0502020204030204"/>
              </a:rPr>
              <a:t>облысы</a:t>
            </a:r>
            <a:endParaRPr lang=""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4048" y="4544568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97706"/>
                </a:solidFill>
                <a:latin typeface="Calibri" panose="020F0502020204030204"/>
              </a:rPr>
              <a:t>D(f) = ℝ</a:t>
            </a:r>
            <a:endParaRPr sz="1700" b="1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187952" y="4114800"/>
            <a:ext cx="3749039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87952" y="4114800"/>
            <a:ext cx="3749039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4151376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Мәндер жиыны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297680" y="4544568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766E"/>
                </a:solidFill>
                <a:latin typeface="Calibri" panose="020F0502020204030204"/>
              </a:rPr>
              <a:t>E(f) = (0; π)</a:t>
            </a:r>
            <a:endParaRPr sz="1700" b="1" i="0">
              <a:solidFill>
                <a:srgbClr val="0F766E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101584" y="4114800"/>
            <a:ext cx="3749039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1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01584" y="4114800"/>
            <a:ext cx="3749039" cy="365760"/>
          </a:xfrm>
          <a:prstGeom prst="rect">
            <a:avLst/>
          </a:prstGeom>
          <a:solidFill>
            <a:srgbClr val="E11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4151376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Монотондылық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11312" y="4544568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1125E"/>
                </a:solidFill>
                <a:latin typeface="Calibri" panose="020F0502020204030204"/>
              </a:rPr>
              <a:t>Кемімелі ↘</a:t>
            </a:r>
            <a:endParaRPr sz="1700" b="1" i="0">
              <a:solidFill>
                <a:srgbClr val="E1125E"/>
              </a:solidFill>
              <a:latin typeface="Calibri" panose="020F050202020403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74320" y="5440680"/>
            <a:ext cx="11640312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559552"/>
            <a:ext cx="112471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C1A2E"/>
                </a:solidFill>
                <a:latin typeface="Calibri" panose="020F0502020204030204"/>
              </a:rPr>
              <a:t>📌 </a:t>
            </a:r>
            <a:r>
              <a:rPr lang="" sz="1400" b="0" i="1">
                <a:solidFill>
                  <a:srgbClr val="0C1A2E"/>
                </a:solidFill>
                <a:latin typeface="Calibri" panose="020F0502020204030204"/>
              </a:rPr>
              <a:t>  </a:t>
            </a:r>
            <a:r>
              <a:rPr sz="1400" b="0" i="1">
                <a:solidFill>
                  <a:srgbClr val="0C1A2E"/>
                </a:solidFill>
                <a:latin typeface="Calibri" panose="020F0502020204030204"/>
              </a:rPr>
              <a:t>Мысал:  arccot(√3) = π/6   өйткені   cot(π/6) = √3   және   π/6 ∈ (0; π)</a:t>
            </a:r>
            <a:endParaRPr sz="1400" b="0" i="1">
              <a:solidFill>
                <a:srgbClr val="0C1A2E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3258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C1A2E"/>
                </a:solidFill>
                <a:latin typeface="Calibri" panose="020F0502020204030204"/>
              </a:rPr>
              <a:t>Салыстырмалы кесте</a:t>
            </a:r>
            <a:endParaRPr sz="3000" b="1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608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6A8A"/>
                </a:solidFill>
                <a:latin typeface="Calibri" panose="020F0502020204030204"/>
              </a:rPr>
              <a:t>4 кері тригонометриялық функция · Негізгі сипаттамалар</a:t>
            </a:r>
            <a:endParaRPr sz="1300" b="0" i="0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325880"/>
            <a:ext cx="12188952" cy="254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" y="1481328"/>
            <a:ext cx="1920240" cy="402336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C1A2E"/>
                </a:solidFill>
                <a:latin typeface="Calibri" panose="020F0502020204030204"/>
              </a:rPr>
              <a:t>Қасиет</a:t>
            </a:r>
            <a:endParaRPr sz="1200" b="1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965960" y="1481328"/>
            <a:ext cx="2468880" cy="40233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39112" y="1554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arcsin x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434840" y="1481328"/>
            <a:ext cx="2468880" cy="4023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554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arccos x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903720" y="1481328"/>
            <a:ext cx="2468880" cy="40233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1554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arctan x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372600" y="1481328"/>
            <a:ext cx="2468880" cy="40233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5752" y="1554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arccot x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5720" y="1883664"/>
            <a:ext cx="192024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" y="19751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C1A2E"/>
                </a:solidFill>
                <a:latin typeface="Calibri" panose="020F0502020204030204"/>
              </a:rPr>
              <a:t>Аны. жиыны</a:t>
            </a:r>
            <a:endParaRPr sz="1100" b="1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965960" y="1883664"/>
            <a:ext cx="246888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20824" y="197510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369A1"/>
                </a:solidFill>
                <a:latin typeface="Calibri" panose="020F0502020204030204"/>
              </a:rPr>
              <a:t>[−1; 1]</a:t>
            </a:r>
            <a:endParaRPr sz="1200" b="0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434840" y="1883664"/>
            <a:ext cx="246888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9704" y="197510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B6D4"/>
                </a:solidFill>
                <a:latin typeface="Calibri" panose="020F0502020204030204"/>
              </a:rPr>
              <a:t>[−1; 1]</a:t>
            </a:r>
            <a:endParaRPr sz="1200" b="0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903720" y="1883664"/>
            <a:ext cx="246888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58584" y="197510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  <a:latin typeface="Calibri" panose="020F0502020204030204"/>
              </a:rPr>
              <a:t>ℝ</a:t>
            </a:r>
            <a:endParaRPr sz="1200" b="0" i="0">
              <a:solidFill>
                <a:srgbClr val="059669"/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372600" y="1883664"/>
            <a:ext cx="246888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27464" y="197510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97706"/>
                </a:solidFill>
                <a:latin typeface="Calibri" panose="020F0502020204030204"/>
              </a:rPr>
              <a:t>ℝ</a:t>
            </a:r>
            <a:endParaRPr sz="1200" b="0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5720" y="2386584"/>
            <a:ext cx="1920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" y="247802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C1A2E"/>
                </a:solidFill>
                <a:latin typeface="Calibri" panose="020F0502020204030204"/>
              </a:rPr>
              <a:t>Мән. жиыны</a:t>
            </a:r>
            <a:endParaRPr sz="1100" b="1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965960" y="2386584"/>
            <a:ext cx="2468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20824" y="247802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369A1"/>
                </a:solidFill>
                <a:latin typeface="Calibri" panose="020F0502020204030204"/>
              </a:rPr>
              <a:t>[−π/2; π/2]</a:t>
            </a:r>
            <a:endParaRPr sz="1200" b="0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434840" y="2386584"/>
            <a:ext cx="2468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9704" y="247802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B6D4"/>
                </a:solidFill>
                <a:latin typeface="Calibri" panose="020F0502020204030204"/>
              </a:rPr>
              <a:t>[0; π]</a:t>
            </a:r>
            <a:endParaRPr sz="1200" b="0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903720" y="2386584"/>
            <a:ext cx="2468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58584" y="247802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  <a:latin typeface="Calibri" panose="020F0502020204030204"/>
              </a:rPr>
              <a:t>(−π/2; π/2)</a:t>
            </a:r>
            <a:endParaRPr sz="1200" b="0" i="0">
              <a:solidFill>
                <a:srgbClr val="059669"/>
              </a:solidFill>
              <a:latin typeface="Calibri" panose="020F0502020204030204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372600" y="2386584"/>
            <a:ext cx="2468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27464" y="247802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97706"/>
                </a:solidFill>
                <a:latin typeface="Calibri" panose="020F0502020204030204"/>
              </a:rPr>
              <a:t>(0; π)</a:t>
            </a:r>
            <a:endParaRPr sz="1200" b="0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5720" y="2889504"/>
            <a:ext cx="192024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" y="29809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C1A2E"/>
                </a:solidFill>
                <a:latin typeface="Calibri" panose="020F0502020204030204"/>
              </a:rPr>
              <a:t>Монот.</a:t>
            </a:r>
            <a:endParaRPr sz="1100" b="1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965960" y="2889504"/>
            <a:ext cx="246888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20824" y="298094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369A1"/>
                </a:solidFill>
                <a:latin typeface="Calibri" panose="020F0502020204030204"/>
              </a:rPr>
              <a:t>Өспелі ↗</a:t>
            </a:r>
            <a:endParaRPr sz="1200" b="0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434840" y="2889504"/>
            <a:ext cx="246888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89704" y="298094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B6D4"/>
                </a:solidFill>
                <a:latin typeface="Calibri" panose="020F0502020204030204"/>
              </a:rPr>
              <a:t>Кемімелі ↘</a:t>
            </a:r>
            <a:endParaRPr sz="1200" b="0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903720" y="2889504"/>
            <a:ext cx="246888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58584" y="298094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  <a:latin typeface="Calibri" panose="020F0502020204030204"/>
              </a:rPr>
              <a:t>Өспелі ↗</a:t>
            </a:r>
            <a:endParaRPr sz="1200" b="0" i="0">
              <a:solidFill>
                <a:srgbClr val="059669"/>
              </a:solidFill>
              <a:latin typeface="Calibri" panose="020F0502020204030204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372600" y="2889504"/>
            <a:ext cx="246888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27464" y="298094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97706"/>
                </a:solidFill>
                <a:latin typeface="Calibri" panose="020F0502020204030204"/>
              </a:rPr>
              <a:t>Кемімелі ↘</a:t>
            </a:r>
            <a:endParaRPr sz="1200" b="0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5720" y="3392424"/>
            <a:ext cx="1920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584" y="348386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C1A2E"/>
                </a:solidFill>
                <a:latin typeface="Calibri" panose="020F0502020204030204"/>
              </a:rPr>
              <a:t>Тақ/Жұп</a:t>
            </a:r>
            <a:endParaRPr sz="1100" b="1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965960" y="3392424"/>
            <a:ext cx="2468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20824" y="348386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369A1"/>
                </a:solidFill>
                <a:latin typeface="Calibri" panose="020F0502020204030204"/>
              </a:rPr>
              <a:t>Тақ</a:t>
            </a:r>
            <a:endParaRPr sz="1200" b="0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434840" y="3392424"/>
            <a:ext cx="2468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89704" y="348386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B6D4"/>
                </a:solidFill>
                <a:latin typeface="Calibri" panose="020F0502020204030204"/>
              </a:rPr>
              <a:t>—</a:t>
            </a:r>
            <a:endParaRPr sz="1200" b="0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903720" y="3392424"/>
            <a:ext cx="2468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58584" y="348386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  <a:latin typeface="Calibri" panose="020F0502020204030204"/>
              </a:rPr>
              <a:t>Тақ</a:t>
            </a:r>
            <a:endParaRPr sz="1200" b="0" i="0">
              <a:solidFill>
                <a:srgbClr val="059669"/>
              </a:solidFill>
              <a:latin typeface="Calibri" panose="020F0502020204030204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9372600" y="3392424"/>
            <a:ext cx="2468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27464" y="348386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97706"/>
                </a:solidFill>
                <a:latin typeface="Calibri" panose="020F0502020204030204"/>
              </a:rPr>
              <a:t>—</a:t>
            </a:r>
            <a:endParaRPr sz="1200" b="0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5720" y="3895344"/>
            <a:ext cx="192024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584" y="398678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C1A2E"/>
                </a:solidFill>
                <a:latin typeface="Calibri" panose="020F0502020204030204"/>
              </a:rPr>
              <a:t>f(0)=</a:t>
            </a:r>
            <a:endParaRPr sz="1100" b="1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965960" y="3895344"/>
            <a:ext cx="246888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20824" y="398678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369A1"/>
                </a:solidFill>
                <a:latin typeface="Calibri" panose="020F0502020204030204"/>
              </a:rPr>
              <a:t>0</a:t>
            </a:r>
            <a:endParaRPr sz="1200" b="0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4434840" y="3895344"/>
            <a:ext cx="246888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489704" y="398678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B6D4"/>
                </a:solidFill>
                <a:latin typeface="Calibri" panose="020F0502020204030204"/>
              </a:rPr>
              <a:t>π/2</a:t>
            </a:r>
            <a:endParaRPr sz="1200" b="0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903720" y="3895344"/>
            <a:ext cx="246888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958584" y="398678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  <a:latin typeface="Calibri" panose="020F0502020204030204"/>
              </a:rPr>
              <a:t>0</a:t>
            </a:r>
            <a:endParaRPr sz="1200" b="0" i="0">
              <a:solidFill>
                <a:srgbClr val="059669"/>
              </a:solidFill>
              <a:latin typeface="Calibri" panose="020F0502020204030204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9372600" y="3895344"/>
            <a:ext cx="246888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427464" y="398678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97706"/>
                </a:solidFill>
                <a:latin typeface="Calibri" panose="020F0502020204030204"/>
              </a:rPr>
              <a:t>π/2</a:t>
            </a:r>
            <a:endParaRPr sz="1200" b="0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45720" y="4398264"/>
            <a:ext cx="1920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0584" y="44897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C1A2E"/>
                </a:solidFill>
                <a:latin typeface="Calibri" panose="020F0502020204030204"/>
              </a:rPr>
              <a:t>f(1)=</a:t>
            </a:r>
            <a:endParaRPr sz="1100" b="1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1965960" y="4398264"/>
            <a:ext cx="2468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20824" y="448970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369A1"/>
                </a:solidFill>
                <a:latin typeface="Calibri" panose="020F0502020204030204"/>
              </a:rPr>
              <a:t>π/2</a:t>
            </a:r>
            <a:endParaRPr sz="1200" b="0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4434840" y="4398264"/>
            <a:ext cx="2468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489704" y="448970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B6D4"/>
                </a:solidFill>
                <a:latin typeface="Calibri" panose="020F0502020204030204"/>
              </a:rPr>
              <a:t>0</a:t>
            </a:r>
            <a:endParaRPr sz="1200" b="0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6903720" y="4398264"/>
            <a:ext cx="2468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958584" y="448970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  <a:latin typeface="Calibri" panose="020F0502020204030204"/>
              </a:rPr>
              <a:t>π/4</a:t>
            </a:r>
            <a:endParaRPr sz="1200" b="0" i="0">
              <a:solidFill>
                <a:srgbClr val="059669"/>
              </a:solidFill>
              <a:latin typeface="Calibri" panose="020F0502020204030204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9372600" y="4398264"/>
            <a:ext cx="2468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427464" y="448970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97706"/>
                </a:solidFill>
                <a:latin typeface="Calibri" panose="020F0502020204030204"/>
              </a:rPr>
              <a:t>π/4</a:t>
            </a:r>
            <a:endParaRPr sz="1200" b="0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45720" y="4901184"/>
            <a:ext cx="192024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0584" y="499262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C1A2E"/>
                </a:solidFill>
                <a:latin typeface="Calibri" panose="020F0502020204030204"/>
              </a:rPr>
              <a:t>f(−1)=</a:t>
            </a:r>
            <a:endParaRPr sz="1100" b="1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1965960" y="4901184"/>
            <a:ext cx="246888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020824" y="499262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369A1"/>
                </a:solidFill>
                <a:latin typeface="Calibri" panose="020F0502020204030204"/>
              </a:rPr>
              <a:t>−π/2</a:t>
            </a:r>
            <a:endParaRPr sz="1200" b="0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4434840" y="4901184"/>
            <a:ext cx="246888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489704" y="499262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B6D4"/>
                </a:solidFill>
                <a:latin typeface="Calibri" panose="020F0502020204030204"/>
              </a:rPr>
              <a:t>π</a:t>
            </a:r>
            <a:endParaRPr sz="1200" b="0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6903720" y="4901184"/>
            <a:ext cx="246888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958584" y="499262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  <a:latin typeface="Calibri" panose="020F0502020204030204"/>
              </a:rPr>
              <a:t>−π/4</a:t>
            </a:r>
            <a:endParaRPr sz="1200" b="0" i="0">
              <a:solidFill>
                <a:srgbClr val="059669"/>
              </a:solidFill>
              <a:latin typeface="Calibri" panose="020F0502020204030204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9372600" y="4901184"/>
            <a:ext cx="246888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427464" y="499262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97706"/>
                </a:solidFill>
                <a:latin typeface="Calibri" panose="020F0502020204030204"/>
              </a:rPr>
              <a:t>3π/4</a:t>
            </a:r>
            <a:endParaRPr sz="1200" b="0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45720" y="5404104"/>
            <a:ext cx="1920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0584" y="54955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C1A2E"/>
                </a:solidFill>
                <a:latin typeface="Calibri" panose="020F0502020204030204"/>
              </a:rPr>
              <a:t>arcsin+arccos=?</a:t>
            </a:r>
            <a:endParaRPr sz="1100" b="1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1965960" y="5404104"/>
            <a:ext cx="2468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20824" y="549554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369A1"/>
                </a:solidFill>
                <a:latin typeface="Calibri" panose="020F0502020204030204"/>
              </a:rPr>
              <a:t>arcsin(x)+arccos(x)</a:t>
            </a:r>
            <a:endParaRPr sz="1200" b="0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4434840" y="5404104"/>
            <a:ext cx="2468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489704" y="549554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B6D4"/>
                </a:solidFill>
                <a:latin typeface="Calibri" panose="020F0502020204030204"/>
              </a:rPr>
              <a:t>=</a:t>
            </a:r>
            <a:endParaRPr sz="1200" b="0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6903720" y="5404104"/>
            <a:ext cx="2468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958584" y="549554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  <a:latin typeface="Calibri" panose="020F0502020204030204"/>
              </a:rPr>
              <a:t>π/2</a:t>
            </a:r>
            <a:endParaRPr sz="1200" b="0" i="0">
              <a:solidFill>
                <a:srgbClr val="059669"/>
              </a:solidFill>
              <a:latin typeface="Calibri" panose="020F0502020204030204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9372600" y="5404104"/>
            <a:ext cx="2468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427464" y="549554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97706"/>
                </a:solidFill>
                <a:latin typeface="Calibri" panose="020F0502020204030204"/>
              </a:rPr>
              <a:t>(барлық x үшін)</a:t>
            </a:r>
            <a:endParaRPr sz="1200" b="0" i="0">
              <a:solidFill>
                <a:srgbClr val="D9770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3258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C1A2E"/>
                </a:solidFill>
                <a:latin typeface="Calibri" panose="020F0502020204030204"/>
              </a:rPr>
              <a:t>Негізгі мәндер кестесі</a:t>
            </a:r>
            <a:endParaRPr sz="3000" b="1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608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6A8A"/>
                </a:solidFill>
                <a:latin typeface="Calibri" panose="020F0502020204030204"/>
              </a:rPr>
              <a:t>arcsin · arccos · arctan · arccot  |  Стандартты бұрыштар</a:t>
            </a:r>
            <a:endParaRPr sz="1300" b="0" i="0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325880"/>
            <a:ext cx="12188952" cy="254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" y="1481328"/>
            <a:ext cx="1280160" cy="393192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" y="154533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C1A2E"/>
                </a:solidFill>
                <a:latin typeface="Calibri" panose="020F0502020204030204"/>
              </a:rPr>
              <a:t>x</a:t>
            </a:r>
            <a:endParaRPr sz="1200" b="1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53312" y="1481328"/>
            <a:ext cx="2468880" cy="39319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8176" y="154533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arcsin x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822191" y="1481328"/>
            <a:ext cx="2468880" cy="3931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5" y="154533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arccos x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291072" y="1481328"/>
            <a:ext cx="2468880" cy="3931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154533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arctan x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759952" y="1481328"/>
            <a:ext cx="2468880" cy="3931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14816" y="154533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arccot x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3152" y="1874520"/>
            <a:ext cx="1280160" cy="3931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" y="19385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C1A2E"/>
                </a:solidFill>
                <a:latin typeface="Calibri" panose="020F0502020204030204"/>
              </a:rPr>
              <a:t>−1</a:t>
            </a:r>
            <a:endParaRPr sz="1200" b="0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353312" y="1874520"/>
            <a:ext cx="2468880" cy="3931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8176" y="19385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369A1"/>
                </a:solidFill>
                <a:latin typeface="Calibri" panose="020F0502020204030204"/>
              </a:rPr>
              <a:t>−π/2</a:t>
            </a:r>
            <a:endParaRPr sz="1200" b="0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822191" y="1874520"/>
            <a:ext cx="2468880" cy="3931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77055" y="19385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B6D4"/>
                </a:solidFill>
                <a:latin typeface="Calibri" panose="020F0502020204030204"/>
              </a:rPr>
              <a:t>π</a:t>
            </a:r>
            <a:endParaRPr sz="1200" b="0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291072" y="1874520"/>
            <a:ext cx="2468880" cy="3931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19385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 panose="020F0502020204030204"/>
              </a:rPr>
              <a:t>—</a:t>
            </a:r>
            <a:endParaRPr sz="1200" b="0" i="0">
              <a:solidFill>
                <a:srgbClr val="CCCCCC"/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759952" y="1874520"/>
            <a:ext cx="2468880" cy="3931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14816" y="19385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 panose="020F0502020204030204"/>
              </a:rPr>
              <a:t>—</a:t>
            </a:r>
            <a:endParaRPr sz="1200" b="0" i="0">
              <a:solidFill>
                <a:srgbClr val="CCCCCC"/>
              </a:solidFill>
              <a:latin typeface="Calibri" panose="020F050202020403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3152" y="2267712"/>
            <a:ext cx="128016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" y="23317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C1A2E"/>
                </a:solidFill>
                <a:latin typeface="Calibri" panose="020F0502020204030204"/>
              </a:rPr>
              <a:t>−√3/2</a:t>
            </a:r>
            <a:endParaRPr sz="1200" b="0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353312" y="2267712"/>
            <a:ext cx="2468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08176" y="2331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369A1"/>
                </a:solidFill>
                <a:latin typeface="Calibri" panose="020F0502020204030204"/>
              </a:rPr>
              <a:t>−π/3</a:t>
            </a:r>
            <a:endParaRPr sz="1200" b="0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822191" y="2267712"/>
            <a:ext cx="2468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77055" y="2331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B6D4"/>
                </a:solidFill>
                <a:latin typeface="Calibri" panose="020F0502020204030204"/>
              </a:rPr>
              <a:t>5π/6</a:t>
            </a:r>
            <a:endParaRPr sz="1200" b="0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291072" y="2267712"/>
            <a:ext cx="2468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45936" y="2331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 panose="020F0502020204030204"/>
              </a:rPr>
              <a:t>—</a:t>
            </a:r>
            <a:endParaRPr sz="1200" b="0" i="0">
              <a:solidFill>
                <a:srgbClr val="CCCCCC"/>
              </a:solidFill>
              <a:latin typeface="Calibri" panose="020F0502020204030204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759952" y="2267712"/>
            <a:ext cx="2468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14816" y="2331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 panose="020F0502020204030204"/>
              </a:rPr>
              <a:t>—</a:t>
            </a:r>
            <a:endParaRPr sz="1200" b="0" i="0">
              <a:solidFill>
                <a:srgbClr val="CCCCCC"/>
              </a:solidFill>
              <a:latin typeface="Calibri" panose="020F0502020204030204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3152" y="2660904"/>
            <a:ext cx="1280160" cy="3931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" y="27249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C1A2E"/>
                </a:solidFill>
                <a:latin typeface="Calibri" panose="020F0502020204030204"/>
              </a:rPr>
              <a:t>−√3</a:t>
            </a:r>
            <a:endParaRPr sz="1200" b="0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353312" y="2660904"/>
            <a:ext cx="2468880" cy="3931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08176" y="27249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 panose="020F0502020204030204"/>
              </a:rPr>
              <a:t>—</a:t>
            </a:r>
            <a:endParaRPr sz="1200" b="0" i="0">
              <a:solidFill>
                <a:srgbClr val="CCCCCC"/>
              </a:solidFill>
              <a:latin typeface="Calibri" panose="020F0502020204030204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822191" y="2660904"/>
            <a:ext cx="2468880" cy="3931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77055" y="27249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 panose="020F0502020204030204"/>
              </a:rPr>
              <a:t>—</a:t>
            </a:r>
            <a:endParaRPr sz="1200" b="0" i="0">
              <a:solidFill>
                <a:srgbClr val="CCCCCC"/>
              </a:solidFill>
              <a:latin typeface="Calibri" panose="020F0502020204030204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291072" y="2660904"/>
            <a:ext cx="2468880" cy="3931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45936" y="27249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  <a:latin typeface="Calibri" panose="020F0502020204030204"/>
              </a:rPr>
              <a:t>−π/3</a:t>
            </a:r>
            <a:endParaRPr sz="1200" b="0" i="0">
              <a:solidFill>
                <a:srgbClr val="059669"/>
              </a:solidFill>
              <a:latin typeface="Calibri" panose="020F0502020204030204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759952" y="2660904"/>
            <a:ext cx="2468880" cy="3931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14816" y="27249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97706"/>
                </a:solidFill>
                <a:latin typeface="Calibri" panose="020F0502020204030204"/>
              </a:rPr>
              <a:t>5π/6</a:t>
            </a:r>
            <a:endParaRPr sz="1200" b="0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73152" y="3054096"/>
            <a:ext cx="128016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8016" y="31181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C1A2E"/>
                </a:solidFill>
                <a:latin typeface="Calibri" panose="020F0502020204030204"/>
              </a:rPr>
              <a:t>−1</a:t>
            </a:r>
            <a:endParaRPr sz="1200" b="0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353312" y="3054096"/>
            <a:ext cx="2468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408176" y="311810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 panose="020F0502020204030204"/>
              </a:rPr>
              <a:t>—</a:t>
            </a:r>
            <a:endParaRPr sz="1200" b="0" i="0">
              <a:solidFill>
                <a:srgbClr val="CCCCCC"/>
              </a:solidFill>
              <a:latin typeface="Calibri" panose="020F0502020204030204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3822191" y="3054096"/>
            <a:ext cx="2468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77055" y="311810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 panose="020F0502020204030204"/>
              </a:rPr>
              <a:t>—</a:t>
            </a:r>
            <a:endParaRPr sz="1200" b="0" i="0">
              <a:solidFill>
                <a:srgbClr val="CCCCCC"/>
              </a:solidFill>
              <a:latin typeface="Calibri" panose="020F0502020204030204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291072" y="3054096"/>
            <a:ext cx="2468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45936" y="311810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  <a:latin typeface="Calibri" panose="020F0502020204030204"/>
              </a:rPr>
              <a:t>−π/4</a:t>
            </a:r>
            <a:endParaRPr sz="1200" b="0" i="0">
              <a:solidFill>
                <a:srgbClr val="059669"/>
              </a:solidFill>
              <a:latin typeface="Calibri" panose="020F0502020204030204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8759952" y="3054096"/>
            <a:ext cx="2468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14816" y="311810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97706"/>
                </a:solidFill>
                <a:latin typeface="Calibri" panose="020F0502020204030204"/>
              </a:rPr>
              <a:t>3π/4</a:t>
            </a:r>
            <a:endParaRPr sz="1200" b="0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73152" y="3447288"/>
            <a:ext cx="1280160" cy="3931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28016" y="35112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C1A2E"/>
                </a:solidFill>
                <a:latin typeface="Calibri" panose="020F0502020204030204"/>
              </a:rPr>
              <a:t>−√3/3</a:t>
            </a:r>
            <a:endParaRPr sz="1200" b="0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353312" y="3447288"/>
            <a:ext cx="2468880" cy="3931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408176" y="351129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 panose="020F0502020204030204"/>
              </a:rPr>
              <a:t>—</a:t>
            </a:r>
            <a:endParaRPr sz="1200" b="0" i="0">
              <a:solidFill>
                <a:srgbClr val="CCCCCC"/>
              </a:solidFill>
              <a:latin typeface="Calibri" panose="020F0502020204030204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3822191" y="3447288"/>
            <a:ext cx="2468880" cy="3931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877055" y="351129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 panose="020F0502020204030204"/>
              </a:rPr>
              <a:t>—</a:t>
            </a:r>
            <a:endParaRPr sz="1200" b="0" i="0">
              <a:solidFill>
                <a:srgbClr val="CCCCCC"/>
              </a:solidFill>
              <a:latin typeface="Calibri" panose="020F0502020204030204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291072" y="3447288"/>
            <a:ext cx="2468880" cy="3931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45936" y="351129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  <a:latin typeface="Calibri" panose="020F0502020204030204"/>
              </a:rPr>
              <a:t>−π/6</a:t>
            </a:r>
            <a:endParaRPr sz="1200" b="0" i="0">
              <a:solidFill>
                <a:srgbClr val="059669"/>
              </a:solidFill>
              <a:latin typeface="Calibri" panose="020F0502020204030204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759952" y="3447288"/>
            <a:ext cx="2468880" cy="3931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814816" y="351129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97706"/>
                </a:solidFill>
                <a:latin typeface="Calibri" panose="020F0502020204030204"/>
              </a:rPr>
              <a:t>2π/3</a:t>
            </a:r>
            <a:endParaRPr sz="1200" b="0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73152" y="3840480"/>
            <a:ext cx="128016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28016" y="39044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C1A2E"/>
                </a:solidFill>
                <a:latin typeface="Calibri" panose="020F0502020204030204"/>
              </a:rPr>
              <a:t>0</a:t>
            </a:r>
            <a:endParaRPr sz="1200" b="0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1353312" y="3840480"/>
            <a:ext cx="2468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08176" y="39044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369A1"/>
                </a:solidFill>
                <a:latin typeface="Calibri" panose="020F0502020204030204"/>
              </a:rPr>
              <a:t>0</a:t>
            </a:r>
            <a:endParaRPr sz="1200" b="0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3822191" y="3840480"/>
            <a:ext cx="2468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877055" y="39044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B6D4"/>
                </a:solidFill>
                <a:latin typeface="Calibri" panose="020F0502020204030204"/>
              </a:rPr>
              <a:t>π/2</a:t>
            </a:r>
            <a:endParaRPr sz="1200" b="0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6291072" y="3840480"/>
            <a:ext cx="2468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45936" y="39044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  <a:latin typeface="Calibri" panose="020F0502020204030204"/>
              </a:rPr>
              <a:t>0</a:t>
            </a:r>
            <a:endParaRPr sz="1200" b="0" i="0">
              <a:solidFill>
                <a:srgbClr val="059669"/>
              </a:solidFill>
              <a:latin typeface="Calibri" panose="020F0502020204030204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8759952" y="3840480"/>
            <a:ext cx="2468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814816" y="39044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97706"/>
                </a:solidFill>
                <a:latin typeface="Calibri" panose="020F0502020204030204"/>
              </a:rPr>
              <a:t>π/2</a:t>
            </a:r>
            <a:endParaRPr sz="1200" b="0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73152" y="4233672"/>
            <a:ext cx="1280160" cy="3931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28016" y="42976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C1A2E"/>
                </a:solidFill>
                <a:latin typeface="Calibri" panose="020F0502020204030204"/>
              </a:rPr>
              <a:t>√3/3</a:t>
            </a:r>
            <a:endParaRPr sz="1200" b="0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1353312" y="4233672"/>
            <a:ext cx="2468880" cy="3931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408176" y="4297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 panose="020F0502020204030204"/>
              </a:rPr>
              <a:t>—</a:t>
            </a:r>
            <a:endParaRPr sz="1200" b="0" i="0">
              <a:solidFill>
                <a:srgbClr val="CCCCCC"/>
              </a:solidFill>
              <a:latin typeface="Calibri" panose="020F0502020204030204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3822191" y="4233672"/>
            <a:ext cx="2468880" cy="3931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877055" y="4297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 panose="020F0502020204030204"/>
              </a:rPr>
              <a:t>—</a:t>
            </a:r>
            <a:endParaRPr sz="1200" b="0" i="0">
              <a:solidFill>
                <a:srgbClr val="CCCCCC"/>
              </a:solidFill>
              <a:latin typeface="Calibri" panose="020F0502020204030204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6291072" y="4233672"/>
            <a:ext cx="2468880" cy="3931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45936" y="4297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  <a:latin typeface="Calibri" panose="020F0502020204030204"/>
              </a:rPr>
              <a:t>π/6</a:t>
            </a:r>
            <a:endParaRPr sz="1200" b="0" i="0">
              <a:solidFill>
                <a:srgbClr val="059669"/>
              </a:solidFill>
              <a:latin typeface="Calibri" panose="020F0502020204030204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8759952" y="4233672"/>
            <a:ext cx="2468880" cy="3931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814816" y="4297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97706"/>
                </a:solidFill>
                <a:latin typeface="Calibri" panose="020F0502020204030204"/>
              </a:rPr>
              <a:t>π/3</a:t>
            </a:r>
            <a:endParaRPr sz="1200" b="0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73152" y="4626864"/>
            <a:ext cx="128016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28016" y="469087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C1A2E"/>
                </a:solidFill>
                <a:latin typeface="Calibri" panose="020F0502020204030204"/>
              </a:rPr>
              <a:t>1</a:t>
            </a:r>
            <a:endParaRPr sz="1200" b="0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1353312" y="4626864"/>
            <a:ext cx="2468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408176" y="46908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 panose="020F0502020204030204"/>
              </a:rPr>
              <a:t>—</a:t>
            </a:r>
            <a:endParaRPr sz="1200" b="0" i="0">
              <a:solidFill>
                <a:srgbClr val="CCCCCC"/>
              </a:solidFill>
              <a:latin typeface="Calibri" panose="020F0502020204030204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3822191" y="4626864"/>
            <a:ext cx="2468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877055" y="46908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 panose="020F0502020204030204"/>
              </a:rPr>
              <a:t>—</a:t>
            </a:r>
            <a:endParaRPr sz="1200" b="0" i="0">
              <a:solidFill>
                <a:srgbClr val="CCCCCC"/>
              </a:solidFill>
              <a:latin typeface="Calibri" panose="020F0502020204030204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6291072" y="4626864"/>
            <a:ext cx="2468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345936" y="46908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  <a:latin typeface="Calibri" panose="020F0502020204030204"/>
              </a:rPr>
              <a:t>π/4</a:t>
            </a:r>
            <a:endParaRPr sz="1200" b="0" i="0">
              <a:solidFill>
                <a:srgbClr val="059669"/>
              </a:solidFill>
              <a:latin typeface="Calibri" panose="020F0502020204030204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8759952" y="4626864"/>
            <a:ext cx="2468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814816" y="46908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97706"/>
                </a:solidFill>
                <a:latin typeface="Calibri" panose="020F0502020204030204"/>
              </a:rPr>
              <a:t>π/4</a:t>
            </a:r>
            <a:endParaRPr sz="1200" b="0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73152" y="5020056"/>
            <a:ext cx="1280160" cy="3931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28016" y="508406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C1A2E"/>
                </a:solidFill>
                <a:latin typeface="Calibri" panose="020F0502020204030204"/>
              </a:rPr>
              <a:t>√3</a:t>
            </a:r>
            <a:endParaRPr sz="1200" b="0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353312" y="5020056"/>
            <a:ext cx="2468880" cy="3931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408176" y="508406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 panose="020F0502020204030204"/>
              </a:rPr>
              <a:t>—</a:t>
            </a:r>
            <a:endParaRPr sz="1200" b="0" i="0">
              <a:solidFill>
                <a:srgbClr val="CCCCCC"/>
              </a:solidFill>
              <a:latin typeface="Calibri" panose="020F0502020204030204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3822191" y="5020056"/>
            <a:ext cx="2468880" cy="3931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877055" y="508406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 panose="020F0502020204030204"/>
              </a:rPr>
              <a:t>—</a:t>
            </a:r>
            <a:endParaRPr sz="1200" b="0" i="0">
              <a:solidFill>
                <a:srgbClr val="CCCCCC"/>
              </a:solidFill>
              <a:latin typeface="Calibri" panose="020F0502020204030204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6291072" y="5020056"/>
            <a:ext cx="2468880" cy="3931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45936" y="508406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  <a:latin typeface="Calibri" panose="020F0502020204030204"/>
              </a:rPr>
              <a:t>π/3</a:t>
            </a:r>
            <a:endParaRPr sz="1200" b="0" i="0">
              <a:solidFill>
                <a:srgbClr val="059669"/>
              </a:solidFill>
              <a:latin typeface="Calibri" panose="020F0502020204030204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8759952" y="5020056"/>
            <a:ext cx="2468880" cy="3931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814816" y="508406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97706"/>
                </a:solidFill>
                <a:latin typeface="Calibri" panose="020F0502020204030204"/>
              </a:rPr>
              <a:t>π/6</a:t>
            </a:r>
            <a:endParaRPr sz="1200" b="0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73152" y="5413248"/>
            <a:ext cx="128016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28016" y="547725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C1A2E"/>
                </a:solidFill>
                <a:latin typeface="Calibri" panose="020F0502020204030204"/>
              </a:rPr>
              <a:t>1/2</a:t>
            </a:r>
            <a:endParaRPr sz="1200" b="0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1353312" y="5413248"/>
            <a:ext cx="2468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408176" y="547725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369A1"/>
                </a:solidFill>
                <a:latin typeface="Calibri" panose="020F0502020204030204"/>
              </a:rPr>
              <a:t>π/6</a:t>
            </a:r>
            <a:endParaRPr sz="1200" b="0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3822191" y="5413248"/>
            <a:ext cx="2468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877055" y="547725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B6D4"/>
                </a:solidFill>
                <a:latin typeface="Calibri" panose="020F0502020204030204"/>
              </a:rPr>
              <a:t>π/3</a:t>
            </a:r>
            <a:endParaRPr sz="1200" b="0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6291072" y="5413248"/>
            <a:ext cx="2468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345936" y="547725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 panose="020F0502020204030204"/>
              </a:rPr>
              <a:t>—</a:t>
            </a:r>
            <a:endParaRPr sz="1200" b="0" i="0">
              <a:solidFill>
                <a:srgbClr val="CCCCCC"/>
              </a:solidFill>
              <a:latin typeface="Calibri" panose="020F0502020204030204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8759952" y="5413248"/>
            <a:ext cx="2468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814816" y="547725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 panose="020F0502020204030204"/>
              </a:rPr>
              <a:t>—</a:t>
            </a:r>
            <a:endParaRPr sz="1200" b="0" i="0">
              <a:solidFill>
                <a:srgbClr val="CCCCCC"/>
              </a:solidFill>
              <a:latin typeface="Calibri" panose="020F0502020204030204"/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73152" y="5806440"/>
            <a:ext cx="1280160" cy="3931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28016" y="58704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C1A2E"/>
                </a:solidFill>
                <a:latin typeface="Calibri" panose="020F0502020204030204"/>
              </a:rPr>
              <a:t>√2/2</a:t>
            </a:r>
            <a:endParaRPr sz="1200" b="0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1353312" y="5806440"/>
            <a:ext cx="2468880" cy="3931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408176" y="58704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369A1"/>
                </a:solidFill>
                <a:latin typeface="Calibri" panose="020F0502020204030204"/>
              </a:rPr>
              <a:t>π/4</a:t>
            </a:r>
            <a:endParaRPr sz="1200" b="0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3822191" y="5806440"/>
            <a:ext cx="2468880" cy="3931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877055" y="58704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B6D4"/>
                </a:solidFill>
                <a:latin typeface="Calibri" panose="020F0502020204030204"/>
              </a:rPr>
              <a:t>π/4</a:t>
            </a:r>
            <a:endParaRPr sz="1200" b="0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6291072" y="5806440"/>
            <a:ext cx="2468880" cy="3931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345936" y="58704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 panose="020F0502020204030204"/>
              </a:rPr>
              <a:t>—</a:t>
            </a:r>
            <a:endParaRPr sz="1200" b="0" i="0">
              <a:solidFill>
                <a:srgbClr val="CCCCCC"/>
              </a:solidFill>
              <a:latin typeface="Calibri" panose="020F0502020204030204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8759952" y="5806440"/>
            <a:ext cx="2468880" cy="3931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814816" y="58704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 panose="020F0502020204030204"/>
              </a:rPr>
              <a:t>—</a:t>
            </a:r>
            <a:endParaRPr sz="1200" b="0" i="0">
              <a:solidFill>
                <a:srgbClr val="CCCCCC"/>
              </a:solidFill>
              <a:latin typeface="Calibri" panose="020F0502020204030204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73152" y="6199632"/>
            <a:ext cx="128016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28016" y="62636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C1A2E"/>
                </a:solidFill>
                <a:latin typeface="Calibri" panose="020F0502020204030204"/>
              </a:rPr>
              <a:t>√3/2</a:t>
            </a:r>
            <a:endParaRPr sz="1200" b="0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1353312" y="6199632"/>
            <a:ext cx="2468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408176" y="6263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369A1"/>
                </a:solidFill>
                <a:latin typeface="Calibri" panose="020F0502020204030204"/>
              </a:rPr>
              <a:t>π/3</a:t>
            </a:r>
            <a:endParaRPr sz="1200" b="0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3822191" y="6199632"/>
            <a:ext cx="2468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877055" y="6263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B6D4"/>
                </a:solidFill>
                <a:latin typeface="Calibri" panose="020F0502020204030204"/>
              </a:rPr>
              <a:t>π/6</a:t>
            </a:r>
            <a:endParaRPr sz="1200" b="0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134" name="Rectangle 133"/>
          <p:cNvSpPr/>
          <p:nvPr/>
        </p:nvSpPr>
        <p:spPr>
          <a:xfrm>
            <a:off x="6291072" y="6199632"/>
            <a:ext cx="2468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345936" y="6263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 panose="020F0502020204030204"/>
              </a:rPr>
              <a:t>—</a:t>
            </a:r>
            <a:endParaRPr sz="1200" b="0" i="0">
              <a:solidFill>
                <a:srgbClr val="CCCCCC"/>
              </a:solidFill>
              <a:latin typeface="Calibri" panose="020F0502020204030204"/>
            </a:endParaRPr>
          </a:p>
        </p:txBody>
      </p:sp>
      <p:sp>
        <p:nvSpPr>
          <p:cNvPr id="136" name="Rectangle 135"/>
          <p:cNvSpPr/>
          <p:nvPr/>
        </p:nvSpPr>
        <p:spPr>
          <a:xfrm>
            <a:off x="8759952" y="6199632"/>
            <a:ext cx="2468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814816" y="6263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 panose="020F0502020204030204"/>
              </a:rPr>
              <a:t>—</a:t>
            </a:r>
            <a:endParaRPr sz="1200" b="0" i="0">
              <a:solidFill>
                <a:srgbClr val="CCCCCC"/>
              </a:solidFill>
              <a:latin typeface="Calibri" panose="020F0502020204030204"/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73152" y="6592824"/>
            <a:ext cx="1280160" cy="3931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28016" y="66568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C1A2E"/>
                </a:solidFill>
                <a:latin typeface="Calibri" panose="020F0502020204030204"/>
              </a:rPr>
              <a:t>1</a:t>
            </a:r>
            <a:endParaRPr sz="1200" b="0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1353312" y="6592824"/>
            <a:ext cx="2468880" cy="3931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408176" y="665683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369A1"/>
                </a:solidFill>
                <a:latin typeface="Calibri" panose="020F0502020204030204"/>
              </a:rPr>
              <a:t>π/2</a:t>
            </a:r>
            <a:endParaRPr sz="1200" b="0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3822191" y="6592824"/>
            <a:ext cx="2468880" cy="3931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3877055" y="665683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B6D4"/>
                </a:solidFill>
                <a:latin typeface="Calibri" panose="020F0502020204030204"/>
              </a:rPr>
              <a:t>0</a:t>
            </a:r>
            <a:endParaRPr sz="1200" b="0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6291072" y="6592824"/>
            <a:ext cx="2468880" cy="3931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345936" y="665683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 panose="020F0502020204030204"/>
              </a:rPr>
              <a:t>—</a:t>
            </a:r>
            <a:endParaRPr sz="1200" b="0" i="0">
              <a:solidFill>
                <a:srgbClr val="CCCCCC"/>
              </a:solidFill>
              <a:latin typeface="Calibri" panose="020F0502020204030204"/>
            </a:endParaRPr>
          </a:p>
        </p:txBody>
      </p:sp>
      <p:sp>
        <p:nvSpPr>
          <p:cNvPr id="146" name="Rectangle 145"/>
          <p:cNvSpPr/>
          <p:nvPr/>
        </p:nvSpPr>
        <p:spPr>
          <a:xfrm>
            <a:off x="8759952" y="6592824"/>
            <a:ext cx="2468880" cy="39319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814816" y="665683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 panose="020F0502020204030204"/>
              </a:rPr>
              <a:t>—</a:t>
            </a:r>
            <a:endParaRPr sz="1200" b="0" i="0">
              <a:solidFill>
                <a:srgbClr val="CCCCC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21"/>
          <p:cNvSpPr/>
          <p:nvPr/>
        </p:nvSpPr>
        <p:spPr>
          <a:xfrm>
            <a:off x="9692640" y="4361688"/>
            <a:ext cx="18288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21"/>
          <p:cNvSpPr/>
          <p:nvPr/>
        </p:nvSpPr>
        <p:spPr>
          <a:xfrm>
            <a:off x="9692640" y="3127248"/>
            <a:ext cx="18288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2743200"/>
            <a:ext cx="11640312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10"/>
          <p:cNvSpPr/>
          <p:nvPr/>
        </p:nvSpPr>
        <p:spPr>
          <a:xfrm>
            <a:off x="5669280" y="1892808"/>
            <a:ext cx="18288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3258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C1A2E"/>
                </a:solidFill>
                <a:latin typeface="Calibri" panose="020F0502020204030204"/>
              </a:rPr>
              <a:t>«Дұрысын тап»</a:t>
            </a:r>
            <a:endParaRPr sz="3000" b="1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608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6A8A"/>
                </a:solidFill>
                <a:latin typeface="Calibri" panose="020F0502020204030204"/>
              </a:rPr>
              <a:t>Тақтада дайын жауаптардан дұрысын таңда · 1 ұпай</a:t>
            </a:r>
            <a:endParaRPr sz="1300" b="0" i="0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325880"/>
            <a:ext cx="12188952" cy="254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11640312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73152" cy="11430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369A1"/>
                </a:solidFill>
                <a:latin typeface="Calibri" panose="020F0502020204030204"/>
              </a:rPr>
              <a:t>1.  arcsin(½) = ?</a:t>
            </a:r>
            <a:endParaRPr sz="1800" b="1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49040" y="1965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1548A"/>
                </a:solidFill>
                <a:latin typeface="Calibri" panose="020F0502020204030204"/>
              </a:rPr>
              <a:t>π/3</a:t>
            </a:r>
            <a:endParaRPr sz="1600" b="0" i="0">
              <a:solidFill>
                <a:srgbClr val="01548A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669280" y="1805178"/>
            <a:ext cx="1828800" cy="658368"/>
          </a:xfrm>
          <a:prstGeom prst="rect">
            <a:avLst/>
          </a:prstGeom>
          <a:solidFill>
            <a:srgbClr val="D1FAE5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1965960"/>
            <a:ext cx="16459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59669"/>
                </a:solidFill>
                <a:latin typeface="Calibri" panose="020F0502020204030204"/>
              </a:rPr>
              <a:t>  </a:t>
            </a:r>
            <a:r>
              <a:rPr sz="1600">
                <a:solidFill>
                  <a:srgbClr val="01548A"/>
                </a:solidFill>
                <a:latin typeface="Calibri" panose="020F0502020204030204"/>
                <a:sym typeface="+mn-ea"/>
              </a:rPr>
              <a:t>π/</a:t>
            </a:r>
            <a:r>
              <a:rPr lang="en-US" sz="1600">
                <a:solidFill>
                  <a:srgbClr val="01548A"/>
                </a:solidFill>
                <a:latin typeface="Calibri" panose="020F0502020204030204"/>
                <a:sym typeface="+mn-ea"/>
              </a:rPr>
              <a:t>6</a:t>
            </a:r>
            <a:endParaRPr lang="en-US" sz="1600" b="1" i="0">
              <a:solidFill>
                <a:srgbClr val="01548A"/>
              </a:solidFill>
              <a:latin typeface="Calibri" panose="020F0502020204030204"/>
              <a:sym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0" y="1965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1548A"/>
                </a:solidFill>
                <a:latin typeface="Calibri" panose="020F0502020204030204"/>
              </a:rPr>
              <a:t>π/4</a:t>
            </a:r>
            <a:endParaRPr sz="1600" b="0" i="0">
              <a:solidFill>
                <a:srgbClr val="01548A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784080" y="1965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1548A"/>
                </a:solidFill>
                <a:latin typeface="Calibri" panose="020F0502020204030204"/>
              </a:rPr>
              <a:t>π/2</a:t>
            </a:r>
            <a:endParaRPr sz="1600" b="0" i="0">
              <a:solidFill>
                <a:srgbClr val="01548A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74320" y="2743200"/>
            <a:ext cx="73152" cy="1143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B6D4"/>
                </a:solidFill>
                <a:latin typeface="Calibri" panose="020F0502020204030204"/>
              </a:rPr>
              <a:t>2.  arccos(0) = ?</a:t>
            </a:r>
            <a:endParaRPr sz="1800" b="1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74904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1548A"/>
                </a:solidFill>
                <a:latin typeface="Calibri" panose="020F0502020204030204"/>
              </a:rPr>
              <a:t>0</a:t>
            </a:r>
            <a:endParaRPr sz="1600" b="0" i="0">
              <a:solidFill>
                <a:srgbClr val="01548A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76072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1548A"/>
                </a:solidFill>
                <a:latin typeface="Calibri" panose="020F0502020204030204"/>
              </a:rPr>
              <a:t>π</a:t>
            </a:r>
            <a:endParaRPr sz="1600" b="0" i="0">
              <a:solidFill>
                <a:srgbClr val="01548A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240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1548A"/>
                </a:solidFill>
                <a:latin typeface="Calibri" panose="020F0502020204030204"/>
              </a:rPr>
              <a:t>π/4</a:t>
            </a:r>
            <a:endParaRPr sz="1600" b="0" i="0">
              <a:solidFill>
                <a:srgbClr val="01548A"/>
              </a:solidFill>
              <a:latin typeface="Calibri" panose="020F050202020403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692640" y="3127248"/>
            <a:ext cx="1828800" cy="658368"/>
          </a:xfrm>
          <a:prstGeom prst="rect">
            <a:avLst/>
          </a:prstGeom>
          <a:solidFill>
            <a:srgbClr val="D1FAE5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3200400"/>
            <a:ext cx="16459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59669"/>
                </a:solidFill>
                <a:latin typeface="Calibri" panose="020F0502020204030204"/>
              </a:rPr>
              <a:t>  </a:t>
            </a:r>
            <a:r>
              <a:rPr sz="1600">
                <a:solidFill>
                  <a:srgbClr val="01548A"/>
                </a:solidFill>
                <a:latin typeface="Calibri" panose="020F0502020204030204"/>
                <a:sym typeface="+mn-ea"/>
              </a:rPr>
              <a:t>π/2</a:t>
            </a:r>
            <a:endParaRPr sz="1600" b="1" i="0">
              <a:solidFill>
                <a:srgbClr val="059669"/>
              </a:solidFill>
              <a:latin typeface="Calibri" panose="020F050202020403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74320" y="3977640"/>
            <a:ext cx="11640312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3977640"/>
            <a:ext cx="73152" cy="1143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069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59669"/>
                </a:solidFill>
                <a:latin typeface="Calibri" panose="020F0502020204030204"/>
              </a:rPr>
              <a:t>3.  arctan(1) = ?</a:t>
            </a:r>
            <a:endParaRPr sz="1800" b="1" i="0">
              <a:solidFill>
                <a:srgbClr val="059669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749040" y="4434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1548A"/>
                </a:solidFill>
                <a:latin typeface="Calibri" panose="020F0502020204030204"/>
              </a:rPr>
              <a:t>π/3</a:t>
            </a:r>
            <a:endParaRPr sz="1600" b="0" i="0">
              <a:solidFill>
                <a:srgbClr val="01548A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760720" y="4434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1548A"/>
                </a:solidFill>
                <a:latin typeface="Calibri" panose="020F0502020204030204"/>
              </a:rPr>
              <a:t>π/6</a:t>
            </a:r>
            <a:endParaRPr sz="1600" b="0" i="0">
              <a:solidFill>
                <a:srgbClr val="01548A"/>
              </a:solidFill>
              <a:latin typeface="Calibri" panose="020F0502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772400" y="4434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1548A"/>
                </a:solidFill>
                <a:latin typeface="Calibri" panose="020F0502020204030204"/>
              </a:rPr>
              <a:t>π/2</a:t>
            </a:r>
            <a:endParaRPr sz="1600" b="0" i="0">
              <a:solidFill>
                <a:srgbClr val="01548A"/>
              </a:solidFill>
              <a:latin typeface="Calibri" panose="020F0502020204030204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692640" y="4361688"/>
            <a:ext cx="1828800" cy="658368"/>
          </a:xfrm>
          <a:prstGeom prst="rect">
            <a:avLst/>
          </a:prstGeom>
          <a:solidFill>
            <a:srgbClr val="D1FAE5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0" y="4434840"/>
            <a:ext cx="16459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59669"/>
                </a:solidFill>
                <a:latin typeface="Calibri" panose="020F0502020204030204"/>
              </a:rPr>
              <a:t>  </a:t>
            </a:r>
            <a:r>
              <a:rPr sz="1600">
                <a:solidFill>
                  <a:srgbClr val="01548A"/>
                </a:solidFill>
                <a:latin typeface="Calibri" panose="020F0502020204030204"/>
                <a:sym typeface="+mn-ea"/>
              </a:rPr>
              <a:t>π/4</a:t>
            </a:r>
            <a:endParaRPr sz="1600" b="1" i="0">
              <a:solidFill>
                <a:srgbClr val="059669"/>
              </a:solidFill>
              <a:latin typeface="Calibri" panose="020F0502020204030204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74320" y="5212080"/>
            <a:ext cx="11640312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4320" y="5212080"/>
            <a:ext cx="73152" cy="1143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303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  <a:latin typeface="Calibri" panose="020F0502020204030204"/>
              </a:rPr>
              <a:t>4.  arccot(√3) = ?</a:t>
            </a:r>
            <a:endParaRPr sz="1800" b="1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749040" y="5669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1548A"/>
                </a:solidFill>
                <a:latin typeface="Calibri" panose="020F0502020204030204"/>
              </a:rPr>
              <a:t>π/3</a:t>
            </a:r>
            <a:endParaRPr sz="1600" b="0" i="0">
              <a:solidFill>
                <a:srgbClr val="01548A"/>
              </a:solidFill>
              <a:latin typeface="Calibri" panose="020F0502020204030204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669280" y="5596128"/>
            <a:ext cx="1828800" cy="658368"/>
          </a:xfrm>
          <a:prstGeom prst="rect">
            <a:avLst/>
          </a:prstGeom>
          <a:solidFill>
            <a:srgbClr val="D1FAE5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0" y="5669280"/>
            <a:ext cx="16459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59669"/>
                </a:solidFill>
                <a:latin typeface="Calibri" panose="020F0502020204030204"/>
              </a:rPr>
              <a:t>  </a:t>
            </a:r>
            <a:r>
              <a:rPr sz="1600">
                <a:solidFill>
                  <a:srgbClr val="01548A"/>
                </a:solidFill>
                <a:latin typeface="Calibri" panose="020F0502020204030204"/>
                <a:sym typeface="+mn-ea"/>
              </a:rPr>
              <a:t>π/6</a:t>
            </a:r>
            <a:endParaRPr sz="1600" b="1" i="0">
              <a:solidFill>
                <a:srgbClr val="059669"/>
              </a:solidFill>
              <a:latin typeface="Calibri" panose="020F050202020403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772400" y="5669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1548A"/>
                </a:solidFill>
                <a:latin typeface="Calibri" panose="020F0502020204030204"/>
              </a:rPr>
              <a:t>π/4</a:t>
            </a:r>
            <a:endParaRPr sz="1600" b="0" i="0">
              <a:solidFill>
                <a:srgbClr val="01548A"/>
              </a:solidFill>
              <a:latin typeface="Calibri" panose="020F0502020204030204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784080" y="5669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1548A"/>
                </a:solidFill>
                <a:latin typeface="Calibri" panose="020F0502020204030204"/>
              </a:rPr>
              <a:t>π/2</a:t>
            </a:r>
            <a:endParaRPr sz="1600" b="0" i="0">
              <a:solidFill>
                <a:srgbClr val="01548A"/>
              </a:solidFill>
              <a:latin typeface="Calibri" panose="020F0502020204030204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274320" y="6446520"/>
            <a:ext cx="11640312" cy="34747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6A8A"/>
                </a:solidFill>
                <a:latin typeface="Calibri" panose="020F0502020204030204"/>
              </a:rPr>
              <a:t>Дескриптор: Кері тригонометриялық функциялардың негізгі мәндерін анықтайды — 1 ұпай</a:t>
            </a:r>
            <a:endParaRPr sz="1100" b="0" i="1">
              <a:solidFill>
                <a:srgbClr val="476A8A"/>
              </a:solidFill>
              <a:latin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3" grpId="1" animBg="1"/>
      <p:bldP spid="28" grpId="0" animBg="1"/>
      <p:bldP spid="28" grpId="1" animBg="1"/>
      <p:bldP spid="39" grpId="0" animBg="1"/>
      <p:bldP spid="39" grpId="1" animBg="1"/>
      <p:bldP spid="46" grpId="0" animBg="1"/>
      <p:bldP spid="46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3258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C1A2E"/>
                </a:solidFill>
                <a:latin typeface="Calibri" panose="020F0502020204030204"/>
              </a:rPr>
              <a:t>«Ойлан – Тап»</a:t>
            </a:r>
            <a:endParaRPr sz="3000" b="1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608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6A8A"/>
                </a:solidFill>
                <a:latin typeface="Calibri" panose="020F0502020204030204"/>
              </a:rPr>
              <a:t>Теріс мәнді функциялар · Терең ойлаңыз · 2 ұпай</a:t>
            </a:r>
            <a:endParaRPr sz="1300" b="0" i="0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325880"/>
            <a:ext cx="12188952" cy="254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81328"/>
            <a:ext cx="11640312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72768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1548A"/>
                </a:solidFill>
                <a:latin typeface="Calibri" panose="020F0502020204030204"/>
              </a:rPr>
              <a:t>💡 Есте сақта: arcsin(−x) = −arcsin(x)   |   arccos(−x) = π − arccos(x)   |   arctan(−x) = −arctan(x)</a:t>
            </a:r>
            <a:endParaRPr sz="1300" b="0" i="1">
              <a:solidFill>
                <a:srgbClr val="01548A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4320" y="2267712"/>
            <a:ext cx="11640312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267712"/>
            <a:ext cx="475488" cy="9875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523744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 panose="020F0502020204030204"/>
              </a:rPr>
              <a:t>1</a:t>
            </a:r>
            <a:endParaRPr sz="1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6112" y="23134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369A1"/>
                </a:solidFill>
                <a:latin typeface="Calibri" panose="020F0502020204030204"/>
              </a:rPr>
              <a:t>arcsin(−√2/2) = ?</a:t>
            </a:r>
            <a:endParaRPr sz="1700" b="1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6112" y="2798064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6A8A"/>
                </a:solidFill>
                <a:latin typeface="Calibri" panose="020F0502020204030204"/>
              </a:rPr>
              <a:t>Жауабы:  arcsin(−√2/2) = −arcsin(√2/2) = −π/4</a:t>
            </a:r>
            <a:endParaRPr sz="1300" b="0" i="1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3346704"/>
            <a:ext cx="11640312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346704"/>
            <a:ext cx="475488" cy="9875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602736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 panose="020F0502020204030204"/>
              </a:rPr>
              <a:t>2</a:t>
            </a:r>
            <a:endParaRPr sz="1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6112" y="339242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B6D4"/>
                </a:solidFill>
                <a:latin typeface="Calibri" panose="020F0502020204030204"/>
              </a:rPr>
              <a:t>arccos(−1/2) = ?</a:t>
            </a:r>
            <a:endParaRPr sz="1700" b="1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6112" y="3877056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6A8A"/>
                </a:solidFill>
                <a:latin typeface="Calibri" panose="020F0502020204030204"/>
              </a:rPr>
              <a:t>Жауабы:  arccos(−1/2) = π − arccos(1/2) = π − π/3 = 2π/3</a:t>
            </a:r>
            <a:endParaRPr sz="1300" b="0" i="1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74320" y="4425696"/>
            <a:ext cx="11640312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425696"/>
            <a:ext cx="475488" cy="9875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681728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 panose="020F0502020204030204"/>
              </a:rPr>
              <a:t>3</a:t>
            </a:r>
            <a:endParaRPr sz="1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96112" y="447141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59669"/>
                </a:solidFill>
                <a:latin typeface="Calibri" panose="020F0502020204030204"/>
              </a:rPr>
              <a:t>arctan(−√3) = ?</a:t>
            </a:r>
            <a:endParaRPr sz="1700" b="1" i="0">
              <a:solidFill>
                <a:srgbClr val="059669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96112" y="495604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6A8A"/>
                </a:solidFill>
                <a:latin typeface="Calibri" panose="020F0502020204030204"/>
              </a:rPr>
              <a:t>Жауабы:  arctan(−√3) = −arctan(√3) = −π/3</a:t>
            </a:r>
            <a:endParaRPr sz="1300" b="0" i="1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74320" y="5504688"/>
            <a:ext cx="11640312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5504688"/>
            <a:ext cx="475488" cy="9875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5760720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 panose="020F0502020204030204"/>
              </a:rPr>
              <a:t>4</a:t>
            </a:r>
            <a:endParaRPr sz="1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96112" y="555040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97706"/>
                </a:solidFill>
                <a:latin typeface="Calibri" panose="020F0502020204030204"/>
              </a:rPr>
              <a:t>arccot(√3) = ?</a:t>
            </a:r>
            <a:endParaRPr sz="1700" b="1" i="0">
              <a:solidFill>
                <a:srgbClr val="D97706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96112" y="603504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6A8A"/>
                </a:solidFill>
                <a:latin typeface="Calibri" panose="020F0502020204030204"/>
              </a:rPr>
              <a:t>Жауабы:  arccot(√3) = π/6  (тікелей анықталады)</a:t>
            </a:r>
            <a:endParaRPr sz="1300" b="0" i="1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74320" y="6464808"/>
            <a:ext cx="11640312" cy="34747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6A8A"/>
                </a:solidFill>
                <a:latin typeface="Calibri" panose="020F0502020204030204"/>
              </a:rPr>
              <a:t>Дескриптор: Сұрақтарға дұрыс жауап береді — 2 ұпай</a:t>
            </a:r>
            <a:endParaRPr sz="1100" b="0" i="1">
              <a:solidFill>
                <a:srgbClr val="476A8A"/>
              </a:solidFill>
              <a:latin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9" grpId="0"/>
      <p:bldP spid="19" grpId="1"/>
      <p:bldP spid="24" grpId="0"/>
      <p:bldP spid="24" grpId="1"/>
      <p:bldP spid="29" grpId="0"/>
      <p:bldP spid="29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3258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C1A2E"/>
                </a:solidFill>
                <a:latin typeface="Calibri" panose="020F0502020204030204"/>
              </a:rPr>
              <a:t>Жұптық жұмыс</a:t>
            </a:r>
            <a:endParaRPr sz="3000" b="1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608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6A8A"/>
                </a:solidFill>
                <a:latin typeface="Calibri" panose="020F0502020204030204"/>
              </a:rPr>
              <a:t>Серігіңмен бірге шеш · 2 ұпай</a:t>
            </a:r>
            <a:endParaRPr sz="1300" b="0" i="0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325880"/>
            <a:ext cx="12188952" cy="254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81328"/>
            <a:ext cx="5669280" cy="40233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1790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А партасы</a:t>
            </a:r>
            <a:endParaRPr sz="1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4320" y="1993392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066544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369A1"/>
                </a:solidFill>
                <a:latin typeface="Calibri" panose="020F0502020204030204"/>
              </a:rPr>
              <a:t>1.  arcsin(√3/2) = ?</a:t>
            </a:r>
            <a:endParaRPr sz="1500" b="1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1480" y="25603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6A8A"/>
                </a:solidFill>
                <a:latin typeface="Calibri" panose="020F0502020204030204"/>
              </a:rPr>
              <a:t>Жауабы: π/3</a:t>
            </a:r>
            <a:endParaRPr sz="1300" b="0" i="1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182112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369A1"/>
                </a:solidFill>
                <a:latin typeface="Calibri" panose="020F0502020204030204"/>
              </a:rPr>
              <a:t>3.  arccos(√2/2) = ?</a:t>
            </a:r>
            <a:endParaRPr sz="1500" b="1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1480" y="36758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6A8A"/>
                </a:solidFill>
                <a:latin typeface="Calibri" panose="020F0502020204030204"/>
              </a:rPr>
              <a:t>Жауабы: π/4</a:t>
            </a:r>
            <a:endParaRPr sz="1300" b="0" i="1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74320" y="4224528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29768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369A1"/>
                </a:solidFill>
                <a:latin typeface="Calibri" panose="020F0502020204030204"/>
              </a:rPr>
              <a:t>5.  arctan(−1) = ?</a:t>
            </a:r>
            <a:endParaRPr sz="1500" b="1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1480" y="479145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6A8A"/>
                </a:solidFill>
                <a:latin typeface="Calibri" panose="020F0502020204030204"/>
              </a:rPr>
              <a:t>Жауабы: −π/4</a:t>
            </a:r>
            <a:endParaRPr sz="1300" b="0" i="1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74320" y="5340096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413248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369A1"/>
                </a:solidFill>
                <a:latin typeface="Calibri" panose="020F0502020204030204"/>
              </a:rPr>
              <a:t>7.  arccot(1) = ?</a:t>
            </a:r>
            <a:endParaRPr sz="1500" b="1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1480" y="590702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6A8A"/>
                </a:solidFill>
                <a:latin typeface="Calibri" panose="020F0502020204030204"/>
              </a:rPr>
              <a:t>Жауабы: π/4</a:t>
            </a:r>
            <a:endParaRPr sz="1300" b="0" i="1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126480" y="1481328"/>
            <a:ext cx="5669280" cy="4023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51790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Б партасы</a:t>
            </a:r>
            <a:endParaRPr sz="1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126480" y="1993392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066544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  <a:latin typeface="Calibri" panose="020F0502020204030204"/>
              </a:rPr>
              <a:t>2.  arcsin(−1/2) = ?</a:t>
            </a:r>
            <a:endParaRPr sz="1500" b="1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63640" y="25603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6A8A"/>
                </a:solidFill>
                <a:latin typeface="Calibri" panose="020F0502020204030204"/>
              </a:rPr>
              <a:t>Жауабы: −π/6</a:t>
            </a:r>
            <a:endParaRPr sz="1300" b="0" i="1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126480" y="3108960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82112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  <a:latin typeface="Calibri" panose="020F0502020204030204"/>
              </a:rPr>
              <a:t>4.  arccos(−√3/2) = ?</a:t>
            </a:r>
            <a:endParaRPr sz="1500" b="1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63640" y="36758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6A8A"/>
                </a:solidFill>
                <a:latin typeface="Calibri" panose="020F0502020204030204"/>
              </a:rPr>
              <a:t>Жауабы: 5π/6</a:t>
            </a:r>
            <a:endParaRPr sz="1300" b="0" i="1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126480" y="4224528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429768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  <a:latin typeface="Calibri" panose="020F0502020204030204"/>
              </a:rPr>
              <a:t>6.  arctan(√3/3) = ?</a:t>
            </a:r>
            <a:endParaRPr sz="1500" b="1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263640" y="479145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6A8A"/>
                </a:solidFill>
                <a:latin typeface="Calibri" panose="020F0502020204030204"/>
              </a:rPr>
              <a:t>Жауабы: π/6</a:t>
            </a:r>
            <a:endParaRPr sz="1300" b="0" i="1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126480" y="5340096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5413248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  <a:latin typeface="Calibri" panose="020F0502020204030204"/>
              </a:rPr>
              <a:t>8.  arccot(−√3) = ?</a:t>
            </a:r>
            <a:endParaRPr sz="1500" b="1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263640" y="590702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6A8A"/>
                </a:solidFill>
                <a:latin typeface="Calibri" panose="020F0502020204030204"/>
              </a:rPr>
              <a:t>Жауабы: 5π/6</a:t>
            </a:r>
            <a:endParaRPr sz="1300" b="0" i="1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74320" y="6464808"/>
            <a:ext cx="11640312" cy="34747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6A8A"/>
                </a:solidFill>
                <a:latin typeface="Calibri" panose="020F0502020204030204"/>
              </a:rPr>
              <a:t>Дескриптор: Кері тригонометриялық функциялардың мәндерін анықтайды — 2 ұпай</a:t>
            </a:r>
            <a:endParaRPr sz="1100" b="0" i="1">
              <a:solidFill>
                <a:srgbClr val="476A8A"/>
              </a:solidFill>
              <a:latin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5" grpId="0"/>
      <p:bldP spid="15" grpId="1"/>
      <p:bldP spid="18" grpId="0"/>
      <p:bldP spid="18" grpId="1"/>
      <p:bldP spid="21" grpId="0"/>
      <p:bldP spid="21" grpId="1"/>
      <p:bldP spid="26" grpId="0"/>
      <p:bldP spid="26" grpId="1"/>
      <p:bldP spid="29" grpId="0"/>
      <p:bldP spid="29" grpId="1"/>
      <p:bldP spid="32" grpId="0"/>
      <p:bldP spid="32" grpId="1"/>
      <p:bldP spid="35" grpId="0"/>
      <p:bldP spid="35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56616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9728"/>
            <a:ext cx="121889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C1A2E"/>
                </a:solidFill>
                <a:latin typeface="Calibri" panose="020F0502020204030204"/>
              </a:rPr>
              <a:t>Сабақтың қорытындысы</a:t>
            </a:r>
            <a:endParaRPr sz="2800" b="1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2834640" cy="2377440"/>
          </a:xfrm>
          <a:prstGeom prst="rect">
            <a:avLst/>
          </a:prstGeom>
          <a:solidFill>
            <a:srgbClr val="EFF6FF"/>
          </a:solidFill>
          <a:ln w="254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2834640" cy="40233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0058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 panose="020F0502020204030204"/>
              </a:rPr>
              <a:t>arcsin</a:t>
            </a:r>
            <a:endParaRPr sz="15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4048" y="14630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C1A2E"/>
                </a:solidFill>
                <a:latin typeface="Calibri" panose="020F0502020204030204"/>
              </a:rPr>
              <a:t>y ∈ [−π/2; π/2]
sin y = x</a:t>
            </a:r>
            <a:endParaRPr sz="1300" b="0" i="1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36976" y="960120"/>
            <a:ext cx="2834640" cy="2377440"/>
          </a:xfrm>
          <a:prstGeom prst="rect">
            <a:avLst/>
          </a:prstGeom>
          <a:solidFill>
            <a:srgbClr val="ECFEFF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36976" y="960120"/>
            <a:ext cx="2834640" cy="4023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6704" y="10058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 panose="020F0502020204030204"/>
              </a:rPr>
              <a:t>arccos</a:t>
            </a:r>
            <a:endParaRPr sz="15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46704" y="14630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C1A2E"/>
                </a:solidFill>
                <a:latin typeface="Calibri" panose="020F0502020204030204"/>
              </a:rPr>
              <a:t>y ∈ [0; π]
cos y = x</a:t>
            </a:r>
            <a:endParaRPr sz="1300" b="0" i="1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99632" y="960120"/>
            <a:ext cx="2834640" cy="2377440"/>
          </a:xfrm>
          <a:prstGeom prst="rect">
            <a:avLst/>
          </a:prstGeom>
          <a:solidFill>
            <a:srgbClr val="D1FAE5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960120"/>
            <a:ext cx="2834640" cy="40233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0058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 panose="020F0502020204030204"/>
              </a:rPr>
              <a:t>arctan</a:t>
            </a:r>
            <a:endParaRPr sz="15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09360" y="14630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C1A2E"/>
                </a:solidFill>
                <a:latin typeface="Calibri" panose="020F0502020204030204"/>
              </a:rPr>
              <a:t>y ∈ (−π/2; π/2)
tan y = x</a:t>
            </a:r>
            <a:endParaRPr sz="1300" b="0" i="1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162288" y="960120"/>
            <a:ext cx="2834640" cy="2377440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62288" y="960120"/>
            <a:ext cx="2834640" cy="40233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72016" y="10058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 panose="020F0502020204030204"/>
              </a:rPr>
              <a:t>arccot</a:t>
            </a:r>
            <a:endParaRPr sz="15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72016" y="14630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C1A2E"/>
                </a:solidFill>
                <a:latin typeface="Calibri" panose="020F0502020204030204"/>
              </a:rPr>
              <a:t>y ∈ (0; π)
cot y = x</a:t>
            </a:r>
            <a:endParaRPr sz="1300" b="0" i="1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3566160"/>
            <a:ext cx="12188952" cy="381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703320"/>
            <a:ext cx="576072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703320"/>
            <a:ext cx="5760720" cy="40233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749039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Рефлексия «3-2-1»</a:t>
            </a:r>
            <a:endParaRPr sz="1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65760" y="4224528"/>
            <a:ext cx="420624" cy="59436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334256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 panose="020F0502020204030204"/>
              </a:rPr>
              <a:t>3</a:t>
            </a:r>
            <a:endParaRPr sz="18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96112" y="42611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69A1"/>
                </a:solidFill>
                <a:latin typeface="Calibri" panose="020F0502020204030204"/>
              </a:rPr>
              <a:t>Бүгін білгенім:</a:t>
            </a:r>
            <a:endParaRPr sz="1300" b="1" i="0">
              <a:solidFill>
                <a:srgbClr val="0369A1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96112" y="45445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6A8A"/>
                </a:solidFill>
                <a:latin typeface="Calibri" panose="020F0502020204030204"/>
              </a:rPr>
              <a:t>Үш нәрсені жазыңыз</a:t>
            </a:r>
            <a:endParaRPr sz="1100" b="0" i="1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65760" y="4974336"/>
            <a:ext cx="420624" cy="5943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084064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 panose="020F0502020204030204"/>
              </a:rPr>
              <a:t>2</a:t>
            </a:r>
            <a:endParaRPr sz="18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96112" y="501091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 panose="020F0502020204030204"/>
              </a:rPr>
              <a:t>Мен үшін маңызды:</a:t>
            </a:r>
            <a:endParaRPr sz="1300" b="1" i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96112" y="529437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6A8A"/>
                </a:solidFill>
                <a:latin typeface="Calibri" panose="020F0502020204030204"/>
              </a:rPr>
              <a:t>Екі нәрсені жазыңыз</a:t>
            </a:r>
            <a:endParaRPr sz="1100" b="0" i="1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65760" y="5724144"/>
            <a:ext cx="420624" cy="5943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833872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 panose="020F0502020204030204"/>
              </a:rPr>
              <a:t>1</a:t>
            </a:r>
            <a:endParaRPr sz="18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96112" y="57607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 panose="020F0502020204030204"/>
              </a:rPr>
              <a:t>Әлі білгім келетіні:</a:t>
            </a:r>
            <a:endParaRPr sz="1300" b="1" i="0">
              <a:solidFill>
                <a:srgbClr val="059669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96112" y="604418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6A8A"/>
                </a:solidFill>
                <a:latin typeface="Calibri" panose="020F0502020204030204"/>
              </a:rPr>
              <a:t>Бір сұрақты жазыңыз</a:t>
            </a:r>
            <a:endParaRPr sz="1100" b="0" i="1">
              <a:solidFill>
                <a:srgbClr val="476A8A"/>
              </a:solidFill>
              <a:latin typeface="Calibri" panose="020F0502020204030204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263640" y="3703320"/>
            <a:ext cx="5650992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3703320"/>
            <a:ext cx="5650992" cy="40233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3749039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Үй тапсырмасы</a:t>
            </a:r>
            <a:endParaRPr sz="1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00800" y="422452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C1A2E"/>
                </a:solidFill>
                <a:latin typeface="Calibri" panose="020F0502020204030204"/>
              </a:rPr>
              <a:t>§ Кері тригонометриялық функциялар тарауын оқы</a:t>
            </a:r>
            <a:endParaRPr sz="1200" b="0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400800" y="4791456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C1A2E"/>
                </a:solidFill>
                <a:latin typeface="Calibri" panose="020F0502020204030204"/>
              </a:rPr>
              <a:t>✏ 4 анықтаманы жаттап ал (arcsin, arccos, arctan, arccot)</a:t>
            </a:r>
            <a:endParaRPr sz="1200" b="0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00800" y="535838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C1A2E"/>
                </a:solidFill>
                <a:latin typeface="Calibri" panose="020F0502020204030204"/>
              </a:rPr>
              <a:t>📝 Негізгі мәндер кестесін дәптерге жаз</a:t>
            </a:r>
            <a:endParaRPr sz="1200" b="0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400800" y="592531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C1A2E"/>
                </a:solidFill>
                <a:latin typeface="Calibri" panose="020F0502020204030204"/>
              </a:rPr>
              <a:t>🔢 arcsin(√2/2), arccos(−1), arctan(√3), arccot(0) есебін шеш</a:t>
            </a:r>
            <a:endParaRPr sz="1200" b="0" i="0">
              <a:solidFill>
                <a:srgbClr val="0C1A2E"/>
              </a:solidFill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583680"/>
            <a:ext cx="1173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6A8A"/>
                </a:solidFill>
                <a:latin typeface="Calibri" panose="020F0502020204030204"/>
              </a:rPr>
              <a:t>arcsin · arccos · arctan · arccot  ·  Кері тригонометриялық функциялар  ·  10-сынып</a:t>
            </a:r>
            <a:endParaRPr sz="1000" b="0" i="0">
              <a:solidFill>
                <a:srgbClr val="476A8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5800</Words>
  <Application>WPS Presentation</Application>
  <PresentationFormat>Произвольный</PresentationFormat>
  <Paragraphs>795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SimSun</vt:lpstr>
      <vt:lpstr>Wingdings</vt:lpstr>
      <vt:lpstr>Arial</vt:lpstr>
      <vt:lpstr>Calibri</vt:lpstr>
      <vt:lpstr>MS PGothic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Маржан Отжанова</cp:lastModifiedBy>
  <cp:revision>2</cp:revision>
  <dcterms:created xsi:type="dcterms:W3CDTF">2013-01-27T09:14:00Z</dcterms:created>
  <dcterms:modified xsi:type="dcterms:W3CDTF">2026-10-08T13:01:34Z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1049-12.1.0.25862</vt:lpwstr>
  </property>
  <property fmtid="{D5CDD505-2E9C-101B-9397-08002B2CF9AE}" pid="3" name="ICV">
    <vt:lpwstr>CD85E015BAC644F8BE8DF4289FE8C4A5_12</vt:lpwstr>
  </property>
</Properties>
</file>